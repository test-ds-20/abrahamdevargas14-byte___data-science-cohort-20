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51435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rocNlXzVrunwWhtezsKc0fIU3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Lato-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slide" Target="slides/slide1.xml"/><Relationship Id="rId19" Type="http://schemas.openxmlformats.org/officeDocument/2006/relationships/font" Target="fonts/Lato-bold.fntdata"/><Relationship Id="rId6" Type="http://schemas.openxmlformats.org/officeDocument/2006/relationships/slide" Target="slides/slide2.xml"/><Relationship Id="rId18" Type="http://schemas.openxmlformats.org/officeDocument/2006/relationships/font" Target="fonts/Lat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Hello everyone, I’m Abraham. My project is on predicting whether a bank transaction will succeed using Gaussian Naive Bayes. Let me walk you through the problem, the data, how I built and </a:t>
            </a:r>
            <a:r>
              <a:rPr lang="en-US"/>
              <a:t>evaluated</a:t>
            </a:r>
            <a:r>
              <a:rPr lang="en-US"/>
              <a:t> the model, and the key lesson about why balancing your data matters.</a:t>
            </a:r>
            <a:endParaRPr/>
          </a:p>
        </p:txBody>
      </p:sp>
      <p:sp>
        <p:nvSpPr>
          <p:cNvPr id="138" name="Google Shape;1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what I’ll cover - the business problem, the data I worked with, the model and results, and the key takeaway about why data balancing matters.</a:t>
            </a:r>
            <a:endParaRPr/>
          </a:p>
        </p:txBody>
      </p:sp>
      <p:sp>
        <p:nvSpPr>
          <p:cNvPr id="147" name="Google Shape;1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question I’m trying to answer is simple: will this customer make a transaction or not? That makes it a supervised binary classification problem. The target column tells us the answer - 1 means a transaction happened, 0 means it didn’t. The raw dataset has 1,050,000 rows total, but only 180,000 are labeled - so that’s what I trained on. And of those, about 90% are non-transactions. That class imbalance turns out to be the biggest challenge in the whole project.</a:t>
            </a:r>
            <a:endParaRPr/>
          </a:p>
        </p:txBody>
      </p:sp>
      <p:sp>
        <p:nvSpPr>
          <p:cNvPr id="174" name="Google Shape;1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1451c025f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d1451c025f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I could do anything useful with the data, I had to clean it. Three things happened here. First, I dropped the 870,000 unlabeled rows - they had no target value, so they can’t be used for supervised learning. Second, after removing those rows, 51 of the 100 predictor columns turned out to be entirely null - nothing left in them - so those were dropped too. That left me with 51 usable predictors. Third, any remaining missing values in those predictors were filled in using the column median, which is robust to outliers and skewed distributions. After cleaning I had 180,000 rows and 51 features, ready to explore.</a:t>
            </a:r>
            <a:endParaRPr/>
          </a:p>
        </p:txBody>
      </p:sp>
      <p:sp>
        <p:nvSpPr>
          <p:cNvPr id="191" name="Google Shape;191;g3d1451c025f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looking at the data that came from AWS S3 - 51 predictor variables after cleaning. You can see the class imbalance clearly in the bar chart on the left - the class 0 </a:t>
            </a:r>
            <a:r>
              <a:rPr lang="en-US"/>
              <a:t>bar </a:t>
            </a:r>
            <a:r>
              <a:rPr lang="en-US"/>
              <a:t>dwarf’s the class 1 bar. On the right are the feature distributions. Most of them look approximately Gaussian, which is exactly what Naive Bayes needs. Some have mild skew but nothing extreme. I used Gaussian Naive Bayes because the predictors are numeric and approximately normally distributed which is a natural fit for this dataset. </a:t>
            </a:r>
            <a:endParaRPr/>
          </a:p>
        </p:txBody>
      </p:sp>
      <p:sp>
        <p:nvSpPr>
          <p:cNvPr id="208" name="Google Shape;2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modeling I checked whether the predictors were correlated with each other - because Naive bayes assumes they’re independent. The heatmap shows only the diagonal is red, meaning those </a:t>
            </a:r>
            <a:r>
              <a:rPr lang="en-US"/>
              <a:t>are each variable</a:t>
            </a:r>
            <a:r>
              <a:rPr lang="en-US"/>
              <a:t> correlated with itself. Zero pairs had a correlation above 0.8. The independence assumption holds.</a:t>
            </a:r>
            <a:endParaRPr/>
          </a:p>
        </p:txBody>
      </p:sp>
      <p:sp>
        <p:nvSpPr>
          <p:cNvPr id="220" name="Google Shape;2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I built the model. On the unbalanced dataset, the Cross Validation across 100 runs came back at 91% </a:t>
            </a:r>
            <a:r>
              <a:rPr lang="en-US"/>
              <a:t>accuracy </a:t>
            </a:r>
            <a:r>
              <a:rPr lang="en-US"/>
              <a:t>. That sounds great - but accuracy alone is a trap when your data is </a:t>
            </a:r>
            <a:r>
              <a:rPr lang="en-US"/>
              <a:t>imbalance</a:t>
            </a:r>
            <a:r>
              <a:rPr lang="en-US"/>
              <a:t>. Look at the confusion matrix. The model predicts class 1 only 782 times out of 3,521 actual class 1 cases. It’s just predicting 0 every time and getting credit for it because 90% of the data is class 0. The classification report confirmed this - class 1 recall was only 0.23. The model was essentially useless for finding actual transactions.</a:t>
            </a:r>
            <a:endParaRPr/>
          </a:p>
        </p:txBody>
      </p:sp>
      <p:sp>
        <p:nvSpPr>
          <p:cNvPr id="231" name="Google Shape;2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I fixed it by downsampling class 0 to match the 18,040 class 1 rows - giving a 50/50 split. The side-by-side histogram comparison tells the whole story. Unbalanced clusters around 91% , the balanced drops to 76%. But now look at the confusion matrix - both quadrants on the diagonal are dark blue. The model is actually predicting both classes. Precision and F1 all came in around 0.75 for both classes - nearly identical </a:t>
            </a:r>
            <a:r>
              <a:rPr lang="en-US"/>
              <a:t>performance</a:t>
            </a:r>
            <a:r>
              <a:rPr lang="en-US"/>
              <a:t> on each. That’s a real model.</a:t>
            </a:r>
            <a:endParaRPr/>
          </a:p>
        </p:txBody>
      </p:sp>
      <p:sp>
        <p:nvSpPr>
          <p:cNvPr id="244" name="Google Shape;2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 three takeaways. 91% accuracy on </a:t>
            </a:r>
            <a:r>
              <a:rPr lang="en-US"/>
              <a:t>imbalance</a:t>
            </a:r>
            <a:r>
              <a:rPr lang="en-US"/>
              <a:t> data is completely misleading. Once we balanced the data, we got 76% accuracy that actually means something. And The Naive Bayes assumptions - Gaussian features, independent predictors - held up well for this dataset. </a:t>
            </a:r>
            <a:r>
              <a:rPr lang="en-US"/>
              <a:t>Next</a:t>
            </a:r>
            <a:r>
              <a:rPr lang="en-US"/>
              <a:t> steps would be trying Random Forest or Logistic regression, using SMOTE (Synthetic Minority Over-sampling technique) instead of undersampling, and evaluating with AUC-ROC. Any questions? </a:t>
            </a:r>
            <a:endParaRPr/>
          </a:p>
        </p:txBody>
      </p:sp>
      <p:sp>
        <p:nvSpPr>
          <p:cNvPr id="257" name="Google Shape;2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7c7a2e46a_0_130"/>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g3d7c7a2e46a_0_130"/>
          <p:cNvGrpSpPr/>
          <p:nvPr/>
        </p:nvGrpSpPr>
        <p:grpSpPr>
          <a:xfrm>
            <a:off x="0" y="490"/>
            <a:ext cx="5153705" cy="5134399"/>
            <a:chOff x="0" y="75"/>
            <a:chExt cx="5153705" cy="5152950"/>
          </a:xfrm>
        </p:grpSpPr>
        <p:sp>
          <p:nvSpPr>
            <p:cNvPr id="16" name="Google Shape;16;g3d7c7a2e46a_0_130"/>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d7c7a2e46a_0_130"/>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g3d7c7a2e46a_0_130"/>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g3d7c7a2e46a_0_130"/>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g3d7c7a2e46a_0_130"/>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1" name="Google Shape;21;g3d7c7a2e46a_0_130"/>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22" name="Google Shape;22;g3d7c7a2e46a_0_1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grpSp>
        <p:nvGrpSpPr>
          <p:cNvPr id="24" name="Google Shape;24;g3d7c7a2e46a_0_140"/>
          <p:cNvGrpSpPr/>
          <p:nvPr/>
        </p:nvGrpSpPr>
        <p:grpSpPr>
          <a:xfrm>
            <a:off x="4406400" y="0"/>
            <a:ext cx="4737600" cy="5143065"/>
            <a:chOff x="4406400" y="0"/>
            <a:chExt cx="4737600" cy="5143065"/>
          </a:xfrm>
        </p:grpSpPr>
        <p:sp>
          <p:nvSpPr>
            <p:cNvPr id="25" name="Google Shape;25;g3d7c7a2e46a_0_140"/>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g3d7c7a2e46a_0_140"/>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d7c7a2e46a_0_140"/>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g3d7c7a2e46a_0_140"/>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g3d7c7a2e46a_0_140"/>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g3d7c7a2e46a_0_140"/>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3d7c7a2e46a_0_140"/>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g3d7c7a2e46a_0_140"/>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d7c7a2e46a_0_140"/>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g3d7c7a2e46a_0_140"/>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d7c7a2e46a_0_140"/>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g3d7c7a2e46a_0_140"/>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d7c7a2e46a_0_140"/>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g3d7c7a2e46a_0_140"/>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d7c7a2e46a_0_140"/>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g3d7c7a2e46a_0_140"/>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d7c7a2e46a_0_140"/>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g3d7c7a2e46a_0_140"/>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g3d7c7a2e46a_0_140"/>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g3d7c7a2e46a_0_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g3d7c7a2e46a_0_162"/>
          <p:cNvGrpSpPr/>
          <p:nvPr/>
        </p:nvGrpSpPr>
        <p:grpSpPr>
          <a:xfrm>
            <a:off x="0" y="381001"/>
            <a:ext cx="1037850" cy="1016287"/>
            <a:chOff x="0" y="381001"/>
            <a:chExt cx="1037850" cy="1016287"/>
          </a:xfrm>
        </p:grpSpPr>
        <p:sp>
          <p:nvSpPr>
            <p:cNvPr id="47" name="Google Shape;47;g3d7c7a2e46a_0_16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d7c7a2e46a_0_16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g3d7c7a2e46a_0_16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0" name="Google Shape;50;g3d7c7a2e46a_0_16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 name="Google Shape;51;g3d7c7a2e46a_0_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grpSp>
        <p:nvGrpSpPr>
          <p:cNvPr id="53" name="Google Shape;53;g3d7c7a2e46a_0_169"/>
          <p:cNvGrpSpPr/>
          <p:nvPr/>
        </p:nvGrpSpPr>
        <p:grpSpPr>
          <a:xfrm>
            <a:off x="0" y="381001"/>
            <a:ext cx="1037850" cy="1016287"/>
            <a:chOff x="0" y="381001"/>
            <a:chExt cx="1037850" cy="1016287"/>
          </a:xfrm>
        </p:grpSpPr>
        <p:sp>
          <p:nvSpPr>
            <p:cNvPr id="54" name="Google Shape;54;g3d7c7a2e46a_0_16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d7c7a2e46a_0_16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g3d7c7a2e46a_0_16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 name="Google Shape;57;g3d7c7a2e46a_0_169"/>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g3d7c7a2e46a_0_169"/>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 name="Google Shape;59;g3d7c7a2e46a_0_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grpSp>
        <p:nvGrpSpPr>
          <p:cNvPr id="61" name="Google Shape;61;g3d7c7a2e46a_0_177"/>
          <p:cNvGrpSpPr/>
          <p:nvPr/>
        </p:nvGrpSpPr>
        <p:grpSpPr>
          <a:xfrm>
            <a:off x="0" y="381001"/>
            <a:ext cx="1037850" cy="1016287"/>
            <a:chOff x="0" y="381001"/>
            <a:chExt cx="1037850" cy="1016287"/>
          </a:xfrm>
        </p:grpSpPr>
        <p:sp>
          <p:nvSpPr>
            <p:cNvPr id="62" name="Google Shape;62;g3d7c7a2e46a_0_17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g3d7c7a2e46a_0_17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 name="Google Shape;64;g3d7c7a2e46a_0_17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5" name="Google Shape;65;g3d7c7a2e46a_0_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g3d7c7a2e46a_0_183"/>
          <p:cNvGrpSpPr/>
          <p:nvPr/>
        </p:nvGrpSpPr>
        <p:grpSpPr>
          <a:xfrm>
            <a:off x="0" y="381001"/>
            <a:ext cx="1037850" cy="1016287"/>
            <a:chOff x="0" y="381001"/>
            <a:chExt cx="1037850" cy="1016287"/>
          </a:xfrm>
        </p:grpSpPr>
        <p:sp>
          <p:nvSpPr>
            <p:cNvPr id="68" name="Google Shape;68;g3d7c7a2e46a_0_18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d7c7a2e46a_0_18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g3d7c7a2e46a_0_183"/>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 name="Google Shape;71;g3d7c7a2e46a_0_183"/>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2" name="Google Shape;72;g3d7c7a2e46a_0_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grpSp>
        <p:nvGrpSpPr>
          <p:cNvPr id="74" name="Google Shape;74;g3d7c7a2e46a_0_190"/>
          <p:cNvGrpSpPr/>
          <p:nvPr/>
        </p:nvGrpSpPr>
        <p:grpSpPr>
          <a:xfrm>
            <a:off x="4406400" y="0"/>
            <a:ext cx="4737600" cy="5143500"/>
            <a:chOff x="4406400" y="0"/>
            <a:chExt cx="4737600" cy="5143500"/>
          </a:xfrm>
        </p:grpSpPr>
        <p:sp>
          <p:nvSpPr>
            <p:cNvPr id="75" name="Google Shape;75;g3d7c7a2e46a_0_19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d7c7a2e46a_0_19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g3d7c7a2e46a_0_19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d7c7a2e46a_0_19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d7c7a2e46a_0_19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d7c7a2e46a_0_19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d7c7a2e46a_0_19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d7c7a2e46a_0_19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g3d7c7a2e46a_0_19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g3d7c7a2e46a_0_19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d7c7a2e46a_0_19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7c7a2e46a_0_19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d7c7a2e46a_0_19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d7c7a2e46a_0_19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3d7c7a2e46a_0_19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d7c7a2e46a_0_19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d7c7a2e46a_0_19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g3d7c7a2e46a_0_19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g3d7c7a2e46a_0_190"/>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 name="Google Shape;94;g3d7c7a2e46a_0_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grpSp>
        <p:nvGrpSpPr>
          <p:cNvPr id="96" name="Google Shape;96;g3d7c7a2e46a_0_212"/>
          <p:cNvGrpSpPr/>
          <p:nvPr/>
        </p:nvGrpSpPr>
        <p:grpSpPr>
          <a:xfrm>
            <a:off x="0" y="381001"/>
            <a:ext cx="1037850" cy="1016287"/>
            <a:chOff x="0" y="381001"/>
            <a:chExt cx="1037850" cy="1016287"/>
          </a:xfrm>
        </p:grpSpPr>
        <p:sp>
          <p:nvSpPr>
            <p:cNvPr id="97" name="Google Shape;97;g3d7c7a2e46a_0_2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d7c7a2e46a_0_2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g3d7c7a2e46a_0_212"/>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0" name="Google Shape;100;g3d7c7a2e46a_0_212"/>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01" name="Google Shape;101;g3d7c7a2e46a_0_212"/>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g3d7c7a2e46a_0_2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3" name="Shape 103"/>
        <p:cNvGrpSpPr/>
        <p:nvPr/>
      </p:nvGrpSpPr>
      <p:grpSpPr>
        <a:xfrm>
          <a:off x="0" y="0"/>
          <a:ext cx="0" cy="0"/>
          <a:chOff x="0" y="0"/>
          <a:chExt cx="0" cy="0"/>
        </a:xfrm>
      </p:grpSpPr>
      <p:grpSp>
        <p:nvGrpSpPr>
          <p:cNvPr id="104" name="Google Shape;104;g3d7c7a2e46a_0_220"/>
          <p:cNvGrpSpPr/>
          <p:nvPr/>
        </p:nvGrpSpPr>
        <p:grpSpPr>
          <a:xfrm>
            <a:off x="0" y="4128572"/>
            <a:ext cx="698925" cy="684657"/>
            <a:chOff x="0" y="3785672"/>
            <a:chExt cx="698925" cy="684657"/>
          </a:xfrm>
        </p:grpSpPr>
        <p:sp>
          <p:nvSpPr>
            <p:cNvPr id="105" name="Google Shape;105;g3d7c7a2e46a_0_22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d7c7a2e46a_0_22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g3d7c7a2e46a_0_22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g3d7c7a2e46a_0_2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grpSp>
        <p:nvGrpSpPr>
          <p:cNvPr id="110" name="Google Shape;110;g3d7c7a2e46a_0_226"/>
          <p:cNvGrpSpPr/>
          <p:nvPr/>
        </p:nvGrpSpPr>
        <p:grpSpPr>
          <a:xfrm>
            <a:off x="4406400" y="0"/>
            <a:ext cx="4737600" cy="5143065"/>
            <a:chOff x="4406400" y="0"/>
            <a:chExt cx="4737600" cy="5143065"/>
          </a:xfrm>
        </p:grpSpPr>
        <p:sp>
          <p:nvSpPr>
            <p:cNvPr id="111" name="Google Shape;111;g3d7c7a2e46a_0_226"/>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d7c7a2e46a_0_226"/>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d7c7a2e46a_0_226"/>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d7c7a2e46a_0_226"/>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d7c7a2e46a_0_226"/>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d7c7a2e46a_0_226"/>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d7c7a2e46a_0_226"/>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d7c7a2e46a_0_226"/>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d7c7a2e46a_0_226"/>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d7c7a2e46a_0_226"/>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d7c7a2e46a_0_226"/>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d7c7a2e46a_0_226"/>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d7c7a2e46a_0_226"/>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d7c7a2e46a_0_22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d7c7a2e46a_0_226"/>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d7c7a2e46a_0_226"/>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7c7a2e46a_0_226"/>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d7c7a2e46a_0_226"/>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g3d7c7a2e46a_0_226"/>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0" name="Google Shape;130;g3d7c7a2e46a_0_226"/>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1" name="Google Shape;131;g3d7c7a2e46a_0_2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
        <p:nvSpPr>
          <p:cNvPr id="133" name="Google Shape;133;g3d7c7a2e46a_0_2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4" name="Shape 1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9" name="Shape 9"/>
        <p:cNvGrpSpPr/>
        <p:nvPr/>
      </p:nvGrpSpPr>
      <p:grpSpPr>
        <a:xfrm>
          <a:off x="0" y="0"/>
          <a:ext cx="0" cy="0"/>
          <a:chOff x="0" y="0"/>
          <a:chExt cx="0" cy="0"/>
        </a:xfrm>
      </p:grpSpPr>
      <p:sp>
        <p:nvSpPr>
          <p:cNvPr id="10" name="Google Shape;10;g3d7c7a2e46a_0_1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11" name="Google Shape;11;g3d7c7a2e46a_0_1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2" name="Google Shape;12;g3d7c7a2e46a_0_1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1"/>
          <p:cNvSpPr/>
          <p:nvPr/>
        </p:nvSpPr>
        <p:spPr>
          <a:xfrm>
            <a:off x="0" y="0"/>
            <a:ext cx="164592" cy="5143500"/>
          </a:xfrm>
          <a:prstGeom prst="rect">
            <a:avLst/>
          </a:prstGeom>
          <a:solidFill>
            <a:srgbClr val="155724"/>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
          <p:cNvSpPr/>
          <p:nvPr/>
        </p:nvSpPr>
        <p:spPr>
          <a:xfrm>
            <a:off x="457200" y="1280160"/>
            <a:ext cx="82296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Transaction Success Prediction</a:t>
            </a:r>
            <a:endParaRPr b="0" i="0" sz="4000" u="none" cap="none" strike="noStrike">
              <a:solidFill>
                <a:schemeClr val="dk1"/>
              </a:solidFill>
              <a:latin typeface="Calibri"/>
              <a:ea typeface="Calibri"/>
              <a:cs typeface="Calibri"/>
              <a:sym typeface="Calibri"/>
            </a:endParaRPr>
          </a:p>
        </p:txBody>
      </p:sp>
      <p:sp>
        <p:nvSpPr>
          <p:cNvPr id="142" name="Google Shape;142;p1"/>
          <p:cNvSpPr/>
          <p:nvPr/>
        </p:nvSpPr>
        <p:spPr>
          <a:xfrm>
            <a:off x="457200" y="2560320"/>
            <a:ext cx="8229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Using Gaussian Naïve Bayes to classify financial transactions</a:t>
            </a:r>
            <a:endParaRPr b="0" i="0" sz="1800" u="none" cap="none" strike="noStrike">
              <a:solidFill>
                <a:schemeClr val="dk1"/>
              </a:solidFill>
              <a:latin typeface="Calibri"/>
              <a:ea typeface="Calibri"/>
              <a:cs typeface="Calibri"/>
              <a:sym typeface="Calibri"/>
            </a:endParaRPr>
          </a:p>
        </p:txBody>
      </p:sp>
      <p:sp>
        <p:nvSpPr>
          <p:cNvPr id="143" name="Google Shape;143;p1"/>
          <p:cNvSpPr/>
          <p:nvPr/>
        </p:nvSpPr>
        <p:spPr>
          <a:xfrm>
            <a:off x="457200" y="420624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Abraham De Vargas  ·  Deep Dive Data Science Cohort-20  ·  03/</a:t>
            </a:r>
            <a:r>
              <a:rPr lang="en-US" sz="1300">
                <a:solidFill>
                  <a:srgbClr val="CADCFC"/>
                </a:solidFill>
                <a:latin typeface="Calibri"/>
                <a:ea typeface="Calibri"/>
                <a:cs typeface="Calibri"/>
                <a:sym typeface="Calibri"/>
              </a:rPr>
              <a:t>20</a:t>
            </a:r>
            <a:r>
              <a:rPr b="0" i="0" lang="en-US" sz="1300" u="none" cap="none" strike="noStrike">
                <a:solidFill>
                  <a:srgbClr val="CADCFC"/>
                </a:solidFill>
                <a:latin typeface="Calibri"/>
                <a:ea typeface="Calibri"/>
                <a:cs typeface="Calibri"/>
                <a:sym typeface="Calibri"/>
              </a:rPr>
              <a:t>/2026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148" name="Shape 148"/>
        <p:cNvGrpSpPr/>
        <p:nvPr/>
      </p:nvGrpSpPr>
      <p:grpSpPr>
        <a:xfrm>
          <a:off x="0" y="0"/>
          <a:ext cx="0" cy="0"/>
          <a:chOff x="0" y="0"/>
          <a:chExt cx="0" cy="0"/>
        </a:xfrm>
      </p:grpSpPr>
      <p:sp>
        <p:nvSpPr>
          <p:cNvPr id="149" name="Google Shape;149;p2"/>
          <p:cNvSpPr/>
          <p:nvPr/>
        </p:nvSpPr>
        <p:spPr>
          <a:xfrm>
            <a:off x="0" y="0"/>
            <a:ext cx="9144000" cy="77724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365760" y="0"/>
            <a:ext cx="8229600" cy="777240"/>
          </a:xfrm>
          <a:prstGeom prst="rect">
            <a:avLst/>
          </a:prstGeom>
          <a:solidFill>
            <a:srgbClr val="155724"/>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What We'll Cover</a:t>
            </a:r>
            <a:endParaRPr b="0" i="0" sz="2600" u="none" cap="none" strike="noStrike">
              <a:solidFill>
                <a:schemeClr val="dk1"/>
              </a:solidFill>
              <a:latin typeface="Calibri"/>
              <a:ea typeface="Calibri"/>
              <a:cs typeface="Calibri"/>
              <a:sym typeface="Calibri"/>
            </a:endParaRPr>
          </a:p>
        </p:txBody>
      </p:sp>
      <p:sp>
        <p:nvSpPr>
          <p:cNvPr id="151" name="Google Shape;151;p2"/>
          <p:cNvSpPr/>
          <p:nvPr/>
        </p:nvSpPr>
        <p:spPr>
          <a:xfrm>
            <a:off x="274320" y="1188720"/>
            <a:ext cx="1965960" cy="3200400"/>
          </a:xfrm>
          <a:prstGeom prst="rect">
            <a:avLst/>
          </a:prstGeom>
          <a:solidFill>
            <a:srgbClr val="FFFFFF"/>
          </a:solidFill>
          <a:ln cap="flat" cmpd="sng" w="9525">
            <a:solidFill>
              <a:srgbClr val="DDDDDD"/>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274320" y="1188720"/>
            <a:ext cx="1965960" cy="109728"/>
          </a:xfrm>
          <a:prstGeom prst="rect">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365760" y="1417320"/>
            <a:ext cx="17830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86FF"/>
              </a:buClr>
              <a:buSzPts val="3600"/>
              <a:buFont typeface="Calibri"/>
              <a:buNone/>
            </a:pPr>
            <a:r>
              <a:rPr b="1" i="0" lang="en-US" sz="3600" u="none" cap="none" strike="noStrike">
                <a:solidFill>
                  <a:srgbClr val="3A86FF"/>
                </a:solidFill>
                <a:latin typeface="Calibri"/>
                <a:ea typeface="Calibri"/>
                <a:cs typeface="Calibri"/>
                <a:sym typeface="Calibri"/>
              </a:rPr>
              <a:t>01</a:t>
            </a:r>
            <a:endParaRPr b="0" i="0" sz="3600" u="none" cap="none" strike="noStrike">
              <a:solidFill>
                <a:schemeClr val="dk1"/>
              </a:solidFill>
              <a:latin typeface="Calibri"/>
              <a:ea typeface="Calibri"/>
              <a:cs typeface="Calibri"/>
              <a:sym typeface="Calibri"/>
            </a:endParaRPr>
          </a:p>
        </p:txBody>
      </p:sp>
      <p:sp>
        <p:nvSpPr>
          <p:cNvPr id="154" name="Google Shape;154;p2"/>
          <p:cNvSpPr/>
          <p:nvPr/>
        </p:nvSpPr>
        <p:spPr>
          <a:xfrm>
            <a:off x="365760" y="2103120"/>
            <a:ext cx="17830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The Problem</a:t>
            </a:r>
            <a:endParaRPr b="0" i="0" sz="1500" u="none" cap="none" strike="noStrike">
              <a:solidFill>
                <a:schemeClr val="dk1"/>
              </a:solidFill>
              <a:latin typeface="Calibri"/>
              <a:ea typeface="Calibri"/>
              <a:cs typeface="Calibri"/>
              <a:sym typeface="Calibri"/>
            </a:endParaRPr>
          </a:p>
        </p:txBody>
      </p:sp>
      <p:sp>
        <p:nvSpPr>
          <p:cNvPr id="155" name="Google Shape;155;p2"/>
          <p:cNvSpPr/>
          <p:nvPr/>
        </p:nvSpPr>
        <p:spPr>
          <a:xfrm>
            <a:off x="365760" y="2697480"/>
            <a:ext cx="17830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Binary classification of transactions</a:t>
            </a:r>
            <a:endParaRPr b="0" i="0" sz="1100" u="none" cap="none" strike="noStrike">
              <a:solidFill>
                <a:schemeClr val="dk1"/>
              </a:solidFill>
              <a:latin typeface="Calibri"/>
              <a:ea typeface="Calibri"/>
              <a:cs typeface="Calibri"/>
              <a:sym typeface="Calibri"/>
            </a:endParaRPr>
          </a:p>
        </p:txBody>
      </p:sp>
      <p:sp>
        <p:nvSpPr>
          <p:cNvPr id="156" name="Google Shape;156;p2"/>
          <p:cNvSpPr/>
          <p:nvPr/>
        </p:nvSpPr>
        <p:spPr>
          <a:xfrm>
            <a:off x="2450592" y="1188720"/>
            <a:ext cx="1965960" cy="3200400"/>
          </a:xfrm>
          <a:prstGeom prst="rect">
            <a:avLst/>
          </a:prstGeom>
          <a:solidFill>
            <a:srgbClr val="FFFFFF"/>
          </a:solidFill>
          <a:ln cap="flat" cmpd="sng" w="9525">
            <a:solidFill>
              <a:srgbClr val="DDDDDD"/>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2450592" y="1188720"/>
            <a:ext cx="1965960" cy="109728"/>
          </a:xfrm>
          <a:prstGeom prst="rect">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2542032" y="1417320"/>
            <a:ext cx="17830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86FF"/>
              </a:buClr>
              <a:buSzPts val="3600"/>
              <a:buFont typeface="Calibri"/>
              <a:buNone/>
            </a:pPr>
            <a:r>
              <a:rPr b="1" i="0" lang="en-US" sz="3600" u="none" cap="none" strike="noStrike">
                <a:solidFill>
                  <a:srgbClr val="3A86FF"/>
                </a:solidFill>
                <a:latin typeface="Calibri"/>
                <a:ea typeface="Calibri"/>
                <a:cs typeface="Calibri"/>
                <a:sym typeface="Calibri"/>
              </a:rPr>
              <a:t>02</a:t>
            </a:r>
            <a:endParaRPr b="0" i="0" sz="3600" u="none" cap="none" strike="noStrike">
              <a:solidFill>
                <a:schemeClr val="dk1"/>
              </a:solidFill>
              <a:latin typeface="Calibri"/>
              <a:ea typeface="Calibri"/>
              <a:cs typeface="Calibri"/>
              <a:sym typeface="Calibri"/>
            </a:endParaRPr>
          </a:p>
        </p:txBody>
      </p:sp>
      <p:sp>
        <p:nvSpPr>
          <p:cNvPr id="159" name="Google Shape;159;p2"/>
          <p:cNvSpPr/>
          <p:nvPr/>
        </p:nvSpPr>
        <p:spPr>
          <a:xfrm>
            <a:off x="2542032" y="2103120"/>
            <a:ext cx="17830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The Data</a:t>
            </a:r>
            <a:endParaRPr b="0" i="0" sz="1500" u="none" cap="none" strike="noStrike">
              <a:solidFill>
                <a:schemeClr val="dk1"/>
              </a:solidFill>
              <a:latin typeface="Calibri"/>
              <a:ea typeface="Calibri"/>
              <a:cs typeface="Calibri"/>
              <a:sym typeface="Calibri"/>
            </a:endParaRPr>
          </a:p>
        </p:txBody>
      </p:sp>
      <p:sp>
        <p:nvSpPr>
          <p:cNvPr id="160" name="Google Shape;160;p2"/>
          <p:cNvSpPr/>
          <p:nvPr/>
        </p:nvSpPr>
        <p:spPr>
          <a:xfrm>
            <a:off x="2542032" y="2697480"/>
            <a:ext cx="17830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180K labeled rows, 51 features</a:t>
            </a:r>
            <a:endParaRPr b="0" i="0" sz="1100" u="none" cap="none" strike="noStrike">
              <a:solidFill>
                <a:schemeClr val="dk1"/>
              </a:solidFill>
              <a:latin typeface="Calibri"/>
              <a:ea typeface="Calibri"/>
              <a:cs typeface="Calibri"/>
              <a:sym typeface="Calibri"/>
            </a:endParaRPr>
          </a:p>
        </p:txBody>
      </p:sp>
      <p:sp>
        <p:nvSpPr>
          <p:cNvPr id="161" name="Google Shape;161;p2"/>
          <p:cNvSpPr/>
          <p:nvPr/>
        </p:nvSpPr>
        <p:spPr>
          <a:xfrm>
            <a:off x="4626864" y="1188720"/>
            <a:ext cx="1965960" cy="3200400"/>
          </a:xfrm>
          <a:prstGeom prst="rect">
            <a:avLst/>
          </a:prstGeom>
          <a:solidFill>
            <a:srgbClr val="FFFFFF"/>
          </a:solidFill>
          <a:ln cap="flat" cmpd="sng" w="9525">
            <a:solidFill>
              <a:srgbClr val="DDDDDD"/>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p:nvPr/>
        </p:nvSpPr>
        <p:spPr>
          <a:xfrm>
            <a:off x="4626864" y="1188720"/>
            <a:ext cx="1965960" cy="109728"/>
          </a:xfrm>
          <a:prstGeom prst="rect">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
          <p:cNvSpPr/>
          <p:nvPr/>
        </p:nvSpPr>
        <p:spPr>
          <a:xfrm>
            <a:off x="4718304" y="1417320"/>
            <a:ext cx="17830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86FF"/>
              </a:buClr>
              <a:buSzPts val="3600"/>
              <a:buFont typeface="Calibri"/>
              <a:buNone/>
            </a:pPr>
            <a:r>
              <a:rPr b="1" i="0" lang="en-US" sz="3600" u="none" cap="none" strike="noStrike">
                <a:solidFill>
                  <a:srgbClr val="3A86FF"/>
                </a:solidFill>
                <a:latin typeface="Calibri"/>
                <a:ea typeface="Calibri"/>
                <a:cs typeface="Calibri"/>
                <a:sym typeface="Calibri"/>
              </a:rPr>
              <a:t>03</a:t>
            </a:r>
            <a:endParaRPr b="0" i="0" sz="3600" u="none" cap="none" strike="noStrike">
              <a:solidFill>
                <a:schemeClr val="dk1"/>
              </a:solidFill>
              <a:latin typeface="Calibri"/>
              <a:ea typeface="Calibri"/>
              <a:cs typeface="Calibri"/>
              <a:sym typeface="Calibri"/>
            </a:endParaRPr>
          </a:p>
        </p:txBody>
      </p:sp>
      <p:sp>
        <p:nvSpPr>
          <p:cNvPr id="164" name="Google Shape;164;p2"/>
          <p:cNvSpPr/>
          <p:nvPr/>
        </p:nvSpPr>
        <p:spPr>
          <a:xfrm>
            <a:off x="4718304" y="2103120"/>
            <a:ext cx="17830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Model &amp; Results</a:t>
            </a:r>
            <a:endParaRPr b="0" i="0" sz="1500" u="none" cap="none" strike="noStrike">
              <a:solidFill>
                <a:schemeClr val="dk1"/>
              </a:solidFill>
              <a:latin typeface="Calibri"/>
              <a:ea typeface="Calibri"/>
              <a:cs typeface="Calibri"/>
              <a:sym typeface="Calibri"/>
            </a:endParaRPr>
          </a:p>
        </p:txBody>
      </p:sp>
      <p:sp>
        <p:nvSpPr>
          <p:cNvPr id="165" name="Google Shape;165;p2"/>
          <p:cNvSpPr/>
          <p:nvPr/>
        </p:nvSpPr>
        <p:spPr>
          <a:xfrm>
            <a:off x="4718304" y="2697480"/>
            <a:ext cx="17830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Gaussian Naïve Bayes, CV accuracy</a:t>
            </a:r>
            <a:endParaRPr b="0" i="0" sz="1100" u="none" cap="none" strike="noStrike">
              <a:solidFill>
                <a:schemeClr val="dk1"/>
              </a:solidFill>
              <a:latin typeface="Calibri"/>
              <a:ea typeface="Calibri"/>
              <a:cs typeface="Calibri"/>
              <a:sym typeface="Calibri"/>
            </a:endParaRPr>
          </a:p>
        </p:txBody>
      </p:sp>
      <p:sp>
        <p:nvSpPr>
          <p:cNvPr id="166" name="Google Shape;166;p2"/>
          <p:cNvSpPr/>
          <p:nvPr/>
        </p:nvSpPr>
        <p:spPr>
          <a:xfrm>
            <a:off x="6803136" y="1188720"/>
            <a:ext cx="1965960" cy="3200400"/>
          </a:xfrm>
          <a:prstGeom prst="rect">
            <a:avLst/>
          </a:prstGeom>
          <a:solidFill>
            <a:srgbClr val="FFFFFF"/>
          </a:solidFill>
          <a:ln cap="flat" cmpd="sng" w="9525">
            <a:solidFill>
              <a:srgbClr val="DDDDDD"/>
            </a:solidFill>
            <a:prstDash val="solid"/>
            <a:round/>
            <a:headEnd len="sm" w="sm" type="none"/>
            <a:tailEnd len="sm" w="sm" type="none"/>
          </a:ln>
          <a:effectLst>
            <a:outerShdw blurRad="101600" rotWithShape="0" algn="bl" dir="81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6803136" y="1188720"/>
            <a:ext cx="1965960" cy="109728"/>
          </a:xfrm>
          <a:prstGeom prst="rect">
            <a:avLst/>
          </a:prstGeom>
          <a:solidFill>
            <a:srgbClr val="3A86FF"/>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6894576" y="1417320"/>
            <a:ext cx="178308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86FF"/>
              </a:buClr>
              <a:buSzPts val="3600"/>
              <a:buFont typeface="Calibri"/>
              <a:buNone/>
            </a:pPr>
            <a:r>
              <a:rPr b="1" i="0" lang="en-US" sz="3600" u="none" cap="none" strike="noStrike">
                <a:solidFill>
                  <a:srgbClr val="3A86FF"/>
                </a:solidFill>
                <a:latin typeface="Calibri"/>
                <a:ea typeface="Calibri"/>
                <a:cs typeface="Calibri"/>
                <a:sym typeface="Calibri"/>
              </a:rPr>
              <a:t>04</a:t>
            </a:r>
            <a:endParaRPr b="0" i="0" sz="3600" u="none" cap="none" strike="noStrike">
              <a:solidFill>
                <a:schemeClr val="dk1"/>
              </a:solidFill>
              <a:latin typeface="Calibri"/>
              <a:ea typeface="Calibri"/>
              <a:cs typeface="Calibri"/>
              <a:sym typeface="Calibri"/>
            </a:endParaRPr>
          </a:p>
        </p:txBody>
      </p:sp>
      <p:sp>
        <p:nvSpPr>
          <p:cNvPr id="169" name="Google Shape;169;p2"/>
          <p:cNvSpPr/>
          <p:nvPr/>
        </p:nvSpPr>
        <p:spPr>
          <a:xfrm>
            <a:off x="6894576" y="2103120"/>
            <a:ext cx="17830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Key Takeaway</a:t>
            </a:r>
            <a:endParaRPr b="0" i="0" sz="1500" u="none" cap="none" strike="noStrike">
              <a:solidFill>
                <a:schemeClr val="dk1"/>
              </a:solidFill>
              <a:latin typeface="Calibri"/>
              <a:ea typeface="Calibri"/>
              <a:cs typeface="Calibri"/>
              <a:sym typeface="Calibri"/>
            </a:endParaRPr>
          </a:p>
        </p:txBody>
      </p:sp>
      <p:sp>
        <p:nvSpPr>
          <p:cNvPr id="170" name="Google Shape;170;p2"/>
          <p:cNvSpPr/>
          <p:nvPr/>
        </p:nvSpPr>
        <p:spPr>
          <a:xfrm>
            <a:off x="6894576" y="2697480"/>
            <a:ext cx="17830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Why balancing data matters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175" name="Shape 175"/>
        <p:cNvGrpSpPr/>
        <p:nvPr/>
      </p:nvGrpSpPr>
      <p:grpSpPr>
        <a:xfrm>
          <a:off x="0" y="0"/>
          <a:ext cx="0" cy="0"/>
          <a:chOff x="0" y="0"/>
          <a:chExt cx="0" cy="0"/>
        </a:xfrm>
      </p:grpSpPr>
      <p:sp>
        <p:nvSpPr>
          <p:cNvPr id="176" name="Google Shape;176;p3"/>
          <p:cNvSpPr/>
          <p:nvPr/>
        </p:nvSpPr>
        <p:spPr>
          <a:xfrm>
            <a:off x="0" y="0"/>
            <a:ext cx="9144000" cy="77724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The Problem</a:t>
            </a:r>
            <a:endParaRPr b="0" i="0" sz="2600" u="none" cap="none" strike="noStrike">
              <a:solidFill>
                <a:schemeClr val="dk1"/>
              </a:solidFill>
              <a:latin typeface="Calibri"/>
              <a:ea typeface="Calibri"/>
              <a:cs typeface="Calibri"/>
              <a:sym typeface="Calibri"/>
            </a:endParaRPr>
          </a:p>
        </p:txBody>
      </p:sp>
      <p:sp>
        <p:nvSpPr>
          <p:cNvPr id="178" name="Google Shape;178;p3"/>
          <p:cNvSpPr/>
          <p:nvPr/>
        </p:nvSpPr>
        <p:spPr>
          <a:xfrm>
            <a:off x="532375" y="1005840"/>
            <a:ext cx="4114800" cy="3657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E2761"/>
              </a:buClr>
              <a:buSzPts val="1600"/>
              <a:buFont typeface="Calibri"/>
              <a:buChar char="•"/>
            </a:pPr>
            <a:r>
              <a:rPr b="1" i="0" lang="en-US" sz="1600" u="none" cap="none" strike="noStrike">
                <a:solidFill>
                  <a:srgbClr val="1E2761"/>
                </a:solidFill>
                <a:latin typeface="Calibri"/>
                <a:ea typeface="Calibri"/>
                <a:cs typeface="Calibri"/>
                <a:sym typeface="Calibri"/>
              </a:rPr>
              <a:t>Will this customer make a transaction?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b="0" i="0" lang="en-US" sz="1400" u="none" cap="none" strike="noStrike">
                <a:solidFill>
                  <a:srgbClr val="4A5568"/>
                </a:solidFill>
                <a:latin typeface="Calibri"/>
                <a:ea typeface="Calibri"/>
                <a:cs typeface="Calibri"/>
                <a:sym typeface="Calibri"/>
              </a:rPr>
              <a:t>Supervised binary classification</a:t>
            </a:r>
            <a:endParaRPr b="0" i="0" sz="16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b="0" i="0" lang="en-US" sz="1400" u="none" cap="none" strike="noStrike">
                <a:solidFill>
                  <a:srgbClr val="4A5568"/>
                </a:solidFill>
                <a:latin typeface="Calibri"/>
                <a:ea typeface="Calibri"/>
                <a:cs typeface="Calibri"/>
                <a:sym typeface="Calibri"/>
              </a:rPr>
              <a:t>Target: 1 = transaction, 0 = no transaction</a:t>
            </a:r>
            <a:endParaRPr b="0" i="0" sz="16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b="0" i="0" lang="en-US" sz="1400" u="none" cap="none" strike="noStrike">
                <a:solidFill>
                  <a:srgbClr val="4A5568"/>
                </a:solidFill>
                <a:latin typeface="Calibri"/>
                <a:ea typeface="Calibri"/>
                <a:cs typeface="Calibri"/>
                <a:sym typeface="Calibri"/>
              </a:rPr>
              <a:t>Model: Gaussian Naïve Bayes</a:t>
            </a:r>
            <a:endParaRPr b="0" i="0" sz="16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b="0" i="0" lang="en-US" sz="1400" u="none" cap="none" strike="noStrike">
                <a:solidFill>
                  <a:srgbClr val="4A5568"/>
                </a:solidFill>
                <a:latin typeface="Calibri"/>
                <a:ea typeface="Calibri"/>
                <a:cs typeface="Calibri"/>
                <a:sym typeface="Calibri"/>
              </a:rPr>
              <a:t>100 anonymized predictor variables</a:t>
            </a:r>
            <a:endParaRPr b="0" i="0" sz="16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b="0" i="0" lang="en-US" sz="1400" u="none" cap="none" strike="noStrike">
                <a:solidFill>
                  <a:srgbClr val="4A5568"/>
                </a:solidFill>
                <a:latin typeface="Calibri"/>
                <a:ea typeface="Calibri"/>
                <a:cs typeface="Calibri"/>
                <a:sym typeface="Calibri"/>
              </a:rPr>
              <a:t>180,000 labeled rows out of 1,050,000</a:t>
            </a:r>
            <a:endParaRPr b="0" i="0" sz="1600" u="none" cap="none" strike="noStrike">
              <a:solidFill>
                <a:schemeClr val="dk1"/>
              </a:solidFill>
              <a:latin typeface="Calibri"/>
              <a:ea typeface="Calibri"/>
              <a:cs typeface="Calibri"/>
              <a:sym typeface="Calibri"/>
            </a:endParaRPr>
          </a:p>
        </p:txBody>
      </p:sp>
      <p:sp>
        <p:nvSpPr>
          <p:cNvPr id="179" name="Google Shape;179;p3"/>
          <p:cNvSpPr/>
          <p:nvPr/>
        </p:nvSpPr>
        <p:spPr>
          <a:xfrm>
            <a:off x="5029200" y="1005840"/>
            <a:ext cx="3657600" cy="1463040"/>
          </a:xfrm>
          <a:prstGeom prst="rect">
            <a:avLst/>
          </a:prstGeom>
          <a:solidFill>
            <a:srgbClr val="1E2761"/>
          </a:solidFill>
          <a:ln cap="flat" cmpd="sng" w="12700">
            <a:solidFill>
              <a:srgbClr val="1E2761"/>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5029200" y="1005840"/>
            <a:ext cx="36576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1,050,000</a:t>
            </a:r>
            <a:endParaRPr b="0" i="0" sz="4200" u="none" cap="none" strike="noStrike">
              <a:solidFill>
                <a:schemeClr val="dk1"/>
              </a:solidFill>
              <a:latin typeface="Calibri"/>
              <a:ea typeface="Calibri"/>
              <a:cs typeface="Calibri"/>
              <a:sym typeface="Calibri"/>
            </a:endParaRPr>
          </a:p>
        </p:txBody>
      </p:sp>
      <p:sp>
        <p:nvSpPr>
          <p:cNvPr id="181" name="Google Shape;181;p3"/>
          <p:cNvSpPr/>
          <p:nvPr/>
        </p:nvSpPr>
        <p:spPr>
          <a:xfrm>
            <a:off x="5029200" y="1737360"/>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300"/>
              <a:buFont typeface="Calibri"/>
              <a:buNone/>
            </a:pPr>
            <a:r>
              <a:rPr b="0" i="0" lang="en-US" sz="1300" u="none" cap="none" strike="noStrike">
                <a:solidFill>
                  <a:srgbClr val="CADCFC"/>
                </a:solidFill>
                <a:latin typeface="Calibri"/>
                <a:ea typeface="Calibri"/>
                <a:cs typeface="Calibri"/>
                <a:sym typeface="Calibri"/>
              </a:rPr>
              <a:t>total rows in raw dataset</a:t>
            </a:r>
            <a:endParaRPr b="0" i="0" sz="1300" u="none" cap="none" strike="noStrike">
              <a:solidFill>
                <a:schemeClr val="dk1"/>
              </a:solidFill>
              <a:latin typeface="Calibri"/>
              <a:ea typeface="Calibri"/>
              <a:cs typeface="Calibri"/>
              <a:sym typeface="Calibri"/>
            </a:endParaRPr>
          </a:p>
        </p:txBody>
      </p:sp>
      <p:sp>
        <p:nvSpPr>
          <p:cNvPr id="182" name="Google Shape;182;p3"/>
          <p:cNvSpPr/>
          <p:nvPr/>
        </p:nvSpPr>
        <p:spPr>
          <a:xfrm>
            <a:off x="5029200" y="2651760"/>
            <a:ext cx="1691640" cy="1463040"/>
          </a:xfrm>
          <a:prstGeom prst="rect">
            <a:avLst/>
          </a:prstGeom>
          <a:solidFill>
            <a:srgbClr val="3A86FF"/>
          </a:solidFill>
          <a:ln cap="flat" cmpd="sng" w="12700">
            <a:solidFill>
              <a:srgbClr val="3A86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5029200" y="2651760"/>
            <a:ext cx="169164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180K</a:t>
            </a:r>
            <a:endParaRPr b="0" i="0" sz="3200" u="none" cap="none" strike="noStrike">
              <a:solidFill>
                <a:schemeClr val="dk1"/>
              </a:solidFill>
              <a:latin typeface="Calibri"/>
              <a:ea typeface="Calibri"/>
              <a:cs typeface="Calibri"/>
              <a:sym typeface="Calibri"/>
            </a:endParaRPr>
          </a:p>
        </p:txBody>
      </p:sp>
      <p:sp>
        <p:nvSpPr>
          <p:cNvPr id="184" name="Google Shape;184;p3"/>
          <p:cNvSpPr/>
          <p:nvPr/>
        </p:nvSpPr>
        <p:spPr>
          <a:xfrm>
            <a:off x="5029200" y="3383280"/>
            <a:ext cx="16916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labeled rows</a:t>
            </a:r>
            <a:endParaRPr b="0" i="0" sz="1200" u="none" cap="none" strike="noStrike">
              <a:solidFill>
                <a:schemeClr val="dk1"/>
              </a:solidFill>
              <a:latin typeface="Calibri"/>
              <a:ea typeface="Calibri"/>
              <a:cs typeface="Calibri"/>
              <a:sym typeface="Calibri"/>
            </a:endParaRPr>
          </a:p>
        </p:txBody>
      </p:sp>
      <p:sp>
        <p:nvSpPr>
          <p:cNvPr id="185" name="Google Shape;185;p3"/>
          <p:cNvSpPr/>
          <p:nvPr/>
        </p:nvSpPr>
        <p:spPr>
          <a:xfrm>
            <a:off x="6903720" y="2651760"/>
            <a:ext cx="1783080" cy="1463040"/>
          </a:xfrm>
          <a:prstGeom prst="rect">
            <a:avLst/>
          </a:prstGeom>
          <a:solidFill>
            <a:srgbClr val="EBF0FF"/>
          </a:solidFill>
          <a:ln cap="flat" cmpd="sng" w="9525">
            <a:solidFill>
              <a:srgbClr val="AAAAAA"/>
            </a:solidFill>
            <a:prstDash val="solid"/>
            <a:round/>
            <a:headEnd len="sm" w="sm" type="none"/>
            <a:tailEnd len="sm" w="sm" type="none"/>
          </a:ln>
          <a:effectLst>
            <a:outerShdw blurRad="1016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6903720" y="2651760"/>
            <a:ext cx="178308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200"/>
              <a:buFont typeface="Calibri"/>
              <a:buNone/>
            </a:pPr>
            <a:r>
              <a:rPr b="1" i="0" lang="en-US" sz="3200" u="none" cap="none" strike="noStrike">
                <a:solidFill>
                  <a:srgbClr val="1E2761"/>
                </a:solidFill>
                <a:latin typeface="Calibri"/>
                <a:ea typeface="Calibri"/>
                <a:cs typeface="Calibri"/>
                <a:sym typeface="Calibri"/>
              </a:rPr>
              <a:t>~90%</a:t>
            </a:r>
            <a:endParaRPr b="0" i="0" sz="3200" u="none" cap="none" strike="noStrike">
              <a:solidFill>
                <a:schemeClr val="dk1"/>
              </a:solidFill>
              <a:latin typeface="Calibri"/>
              <a:ea typeface="Calibri"/>
              <a:cs typeface="Calibri"/>
              <a:sym typeface="Calibri"/>
            </a:endParaRPr>
          </a:p>
        </p:txBody>
      </p:sp>
      <p:sp>
        <p:nvSpPr>
          <p:cNvPr id="187" name="Google Shape;187;p3"/>
          <p:cNvSpPr/>
          <p:nvPr/>
        </p:nvSpPr>
        <p:spPr>
          <a:xfrm>
            <a:off x="6903720" y="3383280"/>
            <a:ext cx="178308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200"/>
              <a:buFont typeface="Calibri"/>
              <a:buNone/>
            </a:pPr>
            <a:r>
              <a:rPr b="0" i="0" lang="en-US" sz="1200" u="none" cap="none" strike="noStrike">
                <a:solidFill>
                  <a:srgbClr val="4A5568"/>
                </a:solidFill>
                <a:latin typeface="Calibri"/>
                <a:ea typeface="Calibri"/>
                <a:cs typeface="Calibri"/>
                <a:sym typeface="Calibri"/>
              </a:rPr>
              <a:t>non-transactions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192" name="Shape 192"/>
        <p:cNvGrpSpPr/>
        <p:nvPr/>
      </p:nvGrpSpPr>
      <p:grpSpPr>
        <a:xfrm>
          <a:off x="0" y="0"/>
          <a:ext cx="0" cy="0"/>
          <a:chOff x="0" y="0"/>
          <a:chExt cx="0" cy="0"/>
        </a:xfrm>
      </p:grpSpPr>
      <p:sp>
        <p:nvSpPr>
          <p:cNvPr id="193" name="Google Shape;193;g3d1451c025f_0_8"/>
          <p:cNvSpPr/>
          <p:nvPr/>
        </p:nvSpPr>
        <p:spPr>
          <a:xfrm>
            <a:off x="0" y="0"/>
            <a:ext cx="9144000" cy="77730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d1451c025f_0_8"/>
          <p:cNvSpPr/>
          <p:nvPr/>
        </p:nvSpPr>
        <p:spPr>
          <a:xfrm>
            <a:off x="365760" y="0"/>
            <a:ext cx="8229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Cleaning </a:t>
            </a:r>
            <a:endParaRPr b="0" i="0" sz="2600" u="none" cap="none" strike="noStrike">
              <a:solidFill>
                <a:schemeClr val="dk1"/>
              </a:solidFill>
              <a:latin typeface="Calibri"/>
              <a:ea typeface="Calibri"/>
              <a:cs typeface="Calibri"/>
              <a:sym typeface="Calibri"/>
            </a:endParaRPr>
          </a:p>
        </p:txBody>
      </p:sp>
      <p:sp>
        <p:nvSpPr>
          <p:cNvPr id="195" name="Google Shape;195;g3d1451c025f_0_8"/>
          <p:cNvSpPr/>
          <p:nvPr/>
        </p:nvSpPr>
        <p:spPr>
          <a:xfrm>
            <a:off x="2514600" y="292865"/>
            <a:ext cx="4114800" cy="365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Calibri"/>
                <a:ea typeface="Calibri"/>
                <a:cs typeface="Calibri"/>
                <a:sym typeface="Calibri"/>
              </a:rPr>
              <a:t>Data cleaning results </a:t>
            </a:r>
            <a:endParaRPr b="1"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lang="en-US">
                <a:solidFill>
                  <a:srgbClr val="4A5568"/>
                </a:solidFill>
                <a:latin typeface="Calibri"/>
                <a:ea typeface="Calibri"/>
                <a:cs typeface="Calibri"/>
                <a:sym typeface="Calibri"/>
              </a:rPr>
              <a:t>Dropped 870K unlabeled rows - no target, </a:t>
            </a:r>
            <a:r>
              <a:rPr lang="en-US">
                <a:solidFill>
                  <a:srgbClr val="4A5568"/>
                </a:solidFill>
                <a:latin typeface="Calibri"/>
                <a:ea typeface="Calibri"/>
                <a:cs typeface="Calibri"/>
                <a:sym typeface="Calibri"/>
              </a:rPr>
              <a:t>unusable</a:t>
            </a:r>
            <a:r>
              <a:rPr lang="en-US">
                <a:solidFill>
                  <a:srgbClr val="4A5568"/>
                </a:solidFill>
                <a:latin typeface="Calibri"/>
                <a:ea typeface="Calibri"/>
                <a:cs typeface="Calibri"/>
                <a:sym typeface="Calibri"/>
              </a:rPr>
              <a:t> for supervised learning</a:t>
            </a:r>
            <a:endParaRPr>
              <a:solidFill>
                <a:srgbClr val="4A5568"/>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lang="en-US">
                <a:solidFill>
                  <a:srgbClr val="4A5568"/>
                </a:solidFill>
                <a:latin typeface="Calibri"/>
                <a:ea typeface="Calibri"/>
                <a:cs typeface="Calibri"/>
                <a:sym typeface="Calibri"/>
              </a:rPr>
              <a:t>Dropped 51 fully null predictor columns</a:t>
            </a:r>
            <a:endParaRPr>
              <a:solidFill>
                <a:srgbClr val="4A5568"/>
              </a:solidFill>
              <a:latin typeface="Calibri"/>
              <a:ea typeface="Calibri"/>
              <a:cs typeface="Calibri"/>
              <a:sym typeface="Calibri"/>
            </a:endParaRPr>
          </a:p>
          <a:p>
            <a:pPr indent="-342900" lvl="0" marL="342900" marR="0" rtl="0" algn="l">
              <a:spcBef>
                <a:spcPts val="0"/>
              </a:spcBef>
              <a:spcAft>
                <a:spcPts val="0"/>
              </a:spcAft>
              <a:buClr>
                <a:srgbClr val="4A5568"/>
              </a:buClr>
              <a:buSzPts val="1400"/>
              <a:buFont typeface="Calibri"/>
              <a:buChar char="•"/>
            </a:pPr>
            <a:r>
              <a:rPr lang="en-US">
                <a:solidFill>
                  <a:srgbClr val="4A5568"/>
                </a:solidFill>
                <a:latin typeface="Calibri"/>
                <a:ea typeface="Calibri"/>
                <a:cs typeface="Calibri"/>
                <a:sym typeface="Calibri"/>
              </a:rPr>
              <a:t>Imputed remaining nulls with median</a:t>
            </a:r>
            <a:endParaRPr b="0" i="0" sz="1600" u="none" cap="none" strike="noStrike">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b="0" i="0" sz="1600" u="none" cap="none" strike="noStrike">
              <a:solidFill>
                <a:schemeClr val="dk1"/>
              </a:solidFill>
              <a:latin typeface="Calibri"/>
              <a:ea typeface="Calibri"/>
              <a:cs typeface="Calibri"/>
              <a:sym typeface="Calibri"/>
            </a:endParaRPr>
          </a:p>
        </p:txBody>
      </p:sp>
      <p:sp>
        <p:nvSpPr>
          <p:cNvPr id="196" name="Google Shape;196;g3d1451c025f_0_8"/>
          <p:cNvSpPr/>
          <p:nvPr/>
        </p:nvSpPr>
        <p:spPr>
          <a:xfrm>
            <a:off x="2697513" y="3474640"/>
            <a:ext cx="3657600" cy="1463100"/>
          </a:xfrm>
          <a:prstGeom prst="rect">
            <a:avLst/>
          </a:prstGeom>
          <a:solidFill>
            <a:srgbClr val="1E2761"/>
          </a:solidFill>
          <a:ln cap="flat" cmpd="sng" w="12700">
            <a:solidFill>
              <a:srgbClr val="1E2761"/>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d1451c025f_0_8"/>
          <p:cNvSpPr/>
          <p:nvPr/>
        </p:nvSpPr>
        <p:spPr>
          <a:xfrm>
            <a:off x="2697525" y="3474640"/>
            <a:ext cx="36576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alibri"/>
              <a:buNone/>
            </a:pPr>
            <a:r>
              <a:rPr b="1" lang="en-US" sz="4200">
                <a:solidFill>
                  <a:srgbClr val="FFFFFF"/>
                </a:solidFill>
                <a:latin typeface="Calibri"/>
                <a:ea typeface="Calibri"/>
                <a:cs typeface="Calibri"/>
                <a:sym typeface="Calibri"/>
              </a:rPr>
              <a:t>870,000</a:t>
            </a:r>
            <a:endParaRPr b="0" i="0" sz="4200" u="none" cap="none" strike="noStrike">
              <a:solidFill>
                <a:schemeClr val="dk1"/>
              </a:solidFill>
              <a:latin typeface="Calibri"/>
              <a:ea typeface="Calibri"/>
              <a:cs typeface="Calibri"/>
              <a:sym typeface="Calibri"/>
            </a:endParaRPr>
          </a:p>
        </p:txBody>
      </p:sp>
      <p:sp>
        <p:nvSpPr>
          <p:cNvPr id="198" name="Google Shape;198;g3d1451c025f_0_8"/>
          <p:cNvSpPr/>
          <p:nvPr/>
        </p:nvSpPr>
        <p:spPr>
          <a:xfrm>
            <a:off x="2697513" y="4221185"/>
            <a:ext cx="3657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300"/>
              <a:buFont typeface="Calibri"/>
              <a:buNone/>
            </a:pPr>
            <a:r>
              <a:rPr lang="en-US" sz="1300">
                <a:solidFill>
                  <a:srgbClr val="CADCFC"/>
                </a:solidFill>
                <a:latin typeface="Calibri"/>
                <a:ea typeface="Calibri"/>
                <a:cs typeface="Calibri"/>
                <a:sym typeface="Calibri"/>
              </a:rPr>
              <a:t>rows dropped</a:t>
            </a:r>
            <a:endParaRPr b="0" i="0" sz="1300" u="none" cap="none" strike="noStrike">
              <a:solidFill>
                <a:schemeClr val="dk1"/>
              </a:solidFill>
              <a:latin typeface="Calibri"/>
              <a:ea typeface="Calibri"/>
              <a:cs typeface="Calibri"/>
              <a:sym typeface="Calibri"/>
            </a:endParaRPr>
          </a:p>
        </p:txBody>
      </p:sp>
      <p:sp>
        <p:nvSpPr>
          <p:cNvPr id="199" name="Google Shape;199;g3d1451c025f_0_8"/>
          <p:cNvSpPr/>
          <p:nvPr/>
        </p:nvSpPr>
        <p:spPr>
          <a:xfrm>
            <a:off x="457200" y="3474660"/>
            <a:ext cx="1691700" cy="1463100"/>
          </a:xfrm>
          <a:prstGeom prst="rect">
            <a:avLst/>
          </a:prstGeom>
          <a:solidFill>
            <a:srgbClr val="3A86FF"/>
          </a:solidFill>
          <a:ln cap="flat" cmpd="sng" w="12700">
            <a:solidFill>
              <a:srgbClr val="3A86FF"/>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d1451c025f_0_8"/>
          <p:cNvSpPr/>
          <p:nvPr/>
        </p:nvSpPr>
        <p:spPr>
          <a:xfrm>
            <a:off x="457200" y="3474660"/>
            <a:ext cx="16917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200"/>
              <a:buFont typeface="Calibri"/>
              <a:buNone/>
            </a:pPr>
            <a:r>
              <a:rPr b="1" lang="en-US" sz="3200">
                <a:solidFill>
                  <a:srgbClr val="FFFFFF"/>
                </a:solidFill>
                <a:latin typeface="Calibri"/>
                <a:ea typeface="Calibri"/>
                <a:cs typeface="Calibri"/>
                <a:sym typeface="Calibri"/>
              </a:rPr>
              <a:t>51</a:t>
            </a:r>
            <a:endParaRPr b="0" i="0" sz="3200" u="none" cap="none" strike="noStrike">
              <a:solidFill>
                <a:schemeClr val="dk1"/>
              </a:solidFill>
              <a:latin typeface="Calibri"/>
              <a:ea typeface="Calibri"/>
              <a:cs typeface="Calibri"/>
              <a:sym typeface="Calibri"/>
            </a:endParaRPr>
          </a:p>
        </p:txBody>
      </p:sp>
      <p:sp>
        <p:nvSpPr>
          <p:cNvPr id="201" name="Google Shape;201;g3d1451c025f_0_8"/>
          <p:cNvSpPr/>
          <p:nvPr/>
        </p:nvSpPr>
        <p:spPr>
          <a:xfrm>
            <a:off x="457200" y="4297555"/>
            <a:ext cx="169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chemeClr val="dk1"/>
                </a:solidFill>
                <a:latin typeface="Calibri"/>
                <a:ea typeface="Calibri"/>
                <a:cs typeface="Calibri"/>
                <a:sym typeface="Calibri"/>
              </a:rPr>
              <a:t>  null columns dropped</a:t>
            </a:r>
            <a:endParaRPr b="0" i="0" sz="1200" u="none" cap="none" strike="noStrike">
              <a:solidFill>
                <a:schemeClr val="dk1"/>
              </a:solidFill>
              <a:latin typeface="Calibri"/>
              <a:ea typeface="Calibri"/>
              <a:cs typeface="Calibri"/>
              <a:sym typeface="Calibri"/>
            </a:endParaRPr>
          </a:p>
        </p:txBody>
      </p:sp>
      <p:sp>
        <p:nvSpPr>
          <p:cNvPr id="202" name="Google Shape;202;g3d1451c025f_0_8"/>
          <p:cNvSpPr/>
          <p:nvPr/>
        </p:nvSpPr>
        <p:spPr>
          <a:xfrm>
            <a:off x="6705000" y="1280156"/>
            <a:ext cx="2180700" cy="3657600"/>
          </a:xfrm>
          <a:prstGeom prst="rect">
            <a:avLst/>
          </a:prstGeom>
          <a:solidFill>
            <a:srgbClr val="EBF0FF"/>
          </a:solidFill>
          <a:ln cap="flat" cmpd="sng" w="9525">
            <a:solidFill>
              <a:srgbClr val="AAAAAA"/>
            </a:solidFill>
            <a:prstDash val="solid"/>
            <a:round/>
            <a:headEnd len="sm" w="sm" type="none"/>
            <a:tailEnd len="sm" w="sm" type="none"/>
          </a:ln>
          <a:effectLst>
            <a:outerShdw blurRad="101600" rotWithShape="0" algn="bl" dir="8100000" dist="381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g3d1451c025f_0_8"/>
          <p:cNvSpPr/>
          <p:nvPr/>
        </p:nvSpPr>
        <p:spPr>
          <a:xfrm>
            <a:off x="6903750" y="1518971"/>
            <a:ext cx="1783200" cy="2431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3200"/>
              <a:buFont typeface="Calibri"/>
              <a:buNone/>
            </a:pPr>
            <a:r>
              <a:rPr b="1" lang="en-US" sz="3200">
                <a:solidFill>
                  <a:srgbClr val="1E2761"/>
                </a:solidFill>
                <a:latin typeface="Calibri"/>
                <a:ea typeface="Calibri"/>
                <a:cs typeface="Calibri"/>
                <a:sym typeface="Calibri"/>
              </a:rPr>
              <a:t>180k rows &amp; 51 features</a:t>
            </a:r>
            <a:endParaRPr b="0" i="0" sz="3200" u="none" cap="none" strike="noStrike">
              <a:solidFill>
                <a:schemeClr val="dk1"/>
              </a:solidFill>
              <a:latin typeface="Calibri"/>
              <a:ea typeface="Calibri"/>
              <a:cs typeface="Calibri"/>
              <a:sym typeface="Calibri"/>
            </a:endParaRPr>
          </a:p>
        </p:txBody>
      </p:sp>
      <p:sp>
        <p:nvSpPr>
          <p:cNvPr id="204" name="Google Shape;204;g3d1451c025f_0_8"/>
          <p:cNvSpPr/>
          <p:nvPr/>
        </p:nvSpPr>
        <p:spPr>
          <a:xfrm>
            <a:off x="6903745" y="3840355"/>
            <a:ext cx="1783200" cy="457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4A5568"/>
              </a:buClr>
              <a:buSzPts val="1200"/>
              <a:buFont typeface="Calibri"/>
              <a:buNone/>
            </a:pPr>
            <a:r>
              <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1200"/>
              <a:buFont typeface="Calibri"/>
              <a:buNone/>
            </a:pPr>
            <a:r>
              <a:rPr lang="en-US" sz="1200">
                <a:solidFill>
                  <a:srgbClr val="4A5568"/>
                </a:solidFill>
                <a:latin typeface="Calibri"/>
                <a:ea typeface="Calibri"/>
                <a:cs typeface="Calibri"/>
                <a:sym typeface="Calibri"/>
              </a:rPr>
              <a:t>ready to use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209" name="Shape 209"/>
        <p:cNvGrpSpPr/>
        <p:nvPr/>
      </p:nvGrpSpPr>
      <p:grpSpPr>
        <a:xfrm>
          <a:off x="0" y="0"/>
          <a:ext cx="0" cy="0"/>
          <a:chOff x="0" y="0"/>
          <a:chExt cx="0" cy="0"/>
        </a:xfrm>
      </p:grpSpPr>
      <p:sp>
        <p:nvSpPr>
          <p:cNvPr id="210" name="Google Shape;210;p4"/>
          <p:cNvSpPr/>
          <p:nvPr/>
        </p:nvSpPr>
        <p:spPr>
          <a:xfrm>
            <a:off x="0" y="0"/>
            <a:ext cx="9144000" cy="77724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Data &amp; Exploratory Analysis</a:t>
            </a:r>
            <a:endParaRPr b="0" i="0" sz="2600" u="none" cap="none" strike="noStrike">
              <a:solidFill>
                <a:schemeClr val="dk1"/>
              </a:solidFill>
              <a:latin typeface="Calibri"/>
              <a:ea typeface="Calibri"/>
              <a:cs typeface="Calibri"/>
              <a:sym typeface="Calibri"/>
            </a:endParaRPr>
          </a:p>
        </p:txBody>
      </p:sp>
      <p:sp>
        <p:nvSpPr>
          <p:cNvPr id="212" name="Google Shape;212;p4"/>
          <p:cNvSpPr/>
          <p:nvPr/>
        </p:nvSpPr>
        <p:spPr>
          <a:xfrm>
            <a:off x="274320" y="914400"/>
            <a:ext cx="4023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Class Imbalance</a:t>
            </a:r>
            <a:endParaRPr b="0" i="0" sz="1400" u="none" cap="none" strike="noStrike">
              <a:solidFill>
                <a:schemeClr val="dk1"/>
              </a:solidFill>
              <a:latin typeface="Calibri"/>
              <a:ea typeface="Calibri"/>
              <a:cs typeface="Calibri"/>
              <a:sym typeface="Calibri"/>
            </a:endParaRPr>
          </a:p>
        </p:txBody>
      </p:sp>
      <p:pic>
        <p:nvPicPr>
          <p:cNvPr descr="preencoded.png" id="213" name="Google Shape;213;p4"/>
          <p:cNvPicPr preferRelativeResize="0"/>
          <p:nvPr/>
        </p:nvPicPr>
        <p:blipFill rotWithShape="1">
          <a:blip r:embed="rId3">
            <a:alphaModFix/>
          </a:blip>
          <a:srcRect b="0" l="0" r="0" t="0"/>
          <a:stretch/>
        </p:blipFill>
        <p:spPr>
          <a:xfrm>
            <a:off x="274320" y="1280160"/>
            <a:ext cx="4023360" cy="2743200"/>
          </a:xfrm>
          <a:prstGeom prst="rect">
            <a:avLst/>
          </a:prstGeom>
          <a:noFill/>
          <a:ln>
            <a:noFill/>
          </a:ln>
        </p:spPr>
      </p:pic>
      <p:sp>
        <p:nvSpPr>
          <p:cNvPr id="214" name="Google Shape;214;p4"/>
          <p:cNvSpPr/>
          <p:nvPr/>
        </p:nvSpPr>
        <p:spPr>
          <a:xfrm>
            <a:off x="4572000" y="914400"/>
            <a:ext cx="429768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Feature Distributions (approx. Gaussian)</a:t>
            </a:r>
            <a:endParaRPr b="0" i="0" sz="1400" u="none" cap="none" strike="noStrike">
              <a:solidFill>
                <a:schemeClr val="dk1"/>
              </a:solidFill>
              <a:latin typeface="Calibri"/>
              <a:ea typeface="Calibri"/>
              <a:cs typeface="Calibri"/>
              <a:sym typeface="Calibri"/>
            </a:endParaRPr>
          </a:p>
        </p:txBody>
      </p:sp>
      <p:pic>
        <p:nvPicPr>
          <p:cNvPr descr="preencoded.png" id="215" name="Google Shape;215;p4"/>
          <p:cNvPicPr preferRelativeResize="0"/>
          <p:nvPr/>
        </p:nvPicPr>
        <p:blipFill rotWithShape="1">
          <a:blip r:embed="rId4">
            <a:alphaModFix/>
          </a:blip>
          <a:srcRect b="0" l="0" r="0" t="0"/>
          <a:stretch/>
        </p:blipFill>
        <p:spPr>
          <a:xfrm>
            <a:off x="4572000" y="1280160"/>
            <a:ext cx="4297680" cy="2743200"/>
          </a:xfrm>
          <a:prstGeom prst="rect">
            <a:avLst/>
          </a:prstGeom>
          <a:noFill/>
          <a:ln>
            <a:noFill/>
          </a:ln>
        </p:spPr>
      </p:pic>
      <p:sp>
        <p:nvSpPr>
          <p:cNvPr id="216" name="Google Shape;216;p4"/>
          <p:cNvSpPr/>
          <p:nvPr/>
        </p:nvSpPr>
        <p:spPr>
          <a:xfrm>
            <a:off x="274320" y="4434840"/>
            <a:ext cx="85953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5568"/>
              </a:buClr>
              <a:buSzPts val="1100"/>
              <a:buFont typeface="Calibri"/>
              <a:buNone/>
            </a:pPr>
            <a:r>
              <a:rPr b="0" i="1" lang="en-US" sz="1100" u="none" cap="none" strike="noStrike">
                <a:solidFill>
                  <a:srgbClr val="4A5568"/>
                </a:solidFill>
                <a:latin typeface="Calibri"/>
                <a:ea typeface="Calibri"/>
                <a:cs typeface="Calibri"/>
                <a:sym typeface="Calibri"/>
              </a:rPr>
              <a:t>No correlations above |0.8| found between predictors — independence assumption satisfied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221" name="Shape 221"/>
        <p:cNvGrpSpPr/>
        <p:nvPr/>
      </p:nvGrpSpPr>
      <p:grpSpPr>
        <a:xfrm>
          <a:off x="0" y="0"/>
          <a:ext cx="0" cy="0"/>
          <a:chOff x="0" y="0"/>
          <a:chExt cx="0" cy="0"/>
        </a:xfrm>
      </p:grpSpPr>
      <p:sp>
        <p:nvSpPr>
          <p:cNvPr id="222" name="Google Shape;222;p5"/>
          <p:cNvSpPr/>
          <p:nvPr/>
        </p:nvSpPr>
        <p:spPr>
          <a:xfrm>
            <a:off x="0" y="0"/>
            <a:ext cx="9144000" cy="77724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Predictor Independence Check</a:t>
            </a:r>
            <a:endParaRPr b="0" i="0" sz="2600" u="none" cap="none" strike="noStrike">
              <a:solidFill>
                <a:schemeClr val="dk1"/>
              </a:solidFill>
              <a:latin typeface="Calibri"/>
              <a:ea typeface="Calibri"/>
              <a:cs typeface="Calibri"/>
              <a:sym typeface="Calibri"/>
            </a:endParaRPr>
          </a:p>
        </p:txBody>
      </p:sp>
      <p:pic>
        <p:nvPicPr>
          <p:cNvPr descr="preencoded.png" id="224" name="Google Shape;224;p5"/>
          <p:cNvPicPr preferRelativeResize="0"/>
          <p:nvPr/>
        </p:nvPicPr>
        <p:blipFill rotWithShape="1">
          <a:blip r:embed="rId3">
            <a:alphaModFix/>
          </a:blip>
          <a:srcRect b="0" l="0" r="0" t="0"/>
          <a:stretch/>
        </p:blipFill>
        <p:spPr>
          <a:xfrm>
            <a:off x="914400" y="914400"/>
            <a:ext cx="5029200" cy="3931920"/>
          </a:xfrm>
          <a:prstGeom prst="rect">
            <a:avLst/>
          </a:prstGeom>
          <a:noFill/>
          <a:ln>
            <a:noFill/>
          </a:ln>
        </p:spPr>
      </p:pic>
      <p:sp>
        <p:nvSpPr>
          <p:cNvPr id="225" name="Google Shape;225;p5"/>
          <p:cNvSpPr/>
          <p:nvPr/>
        </p:nvSpPr>
        <p:spPr>
          <a:xfrm>
            <a:off x="6217920" y="1097280"/>
            <a:ext cx="2651760" cy="1371600"/>
          </a:xfrm>
          <a:prstGeom prst="rect">
            <a:avLst/>
          </a:prstGeom>
          <a:solidFill>
            <a:srgbClr val="3A86FF"/>
          </a:solidFill>
          <a:ln cap="flat" cmpd="sng" w="12700">
            <a:solidFill>
              <a:srgbClr val="3A86FF"/>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6217920" y="1097280"/>
            <a:ext cx="265176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0 pairs</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above |0.8|</a:t>
            </a:r>
            <a:endParaRPr b="0" i="0" sz="2600" u="none" cap="none" strike="noStrike">
              <a:solidFill>
                <a:schemeClr val="dk1"/>
              </a:solidFill>
              <a:latin typeface="Calibri"/>
              <a:ea typeface="Calibri"/>
              <a:cs typeface="Calibri"/>
              <a:sym typeface="Calibri"/>
            </a:endParaRPr>
          </a:p>
        </p:txBody>
      </p:sp>
      <p:sp>
        <p:nvSpPr>
          <p:cNvPr id="227" name="Google Shape;227;p5"/>
          <p:cNvSpPr/>
          <p:nvPr/>
        </p:nvSpPr>
        <p:spPr>
          <a:xfrm>
            <a:off x="6217920" y="2651760"/>
            <a:ext cx="2651760" cy="20116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Only the diagonal (self-correlation = 1.0) is red</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All off-diagonal values near 0</a:t>
            </a:r>
            <a:endParaRPr b="0" i="0" sz="12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4A5568"/>
              </a:buClr>
              <a:buSzPts val="1200"/>
              <a:buFont typeface="Calibri"/>
              <a:buChar char="•"/>
            </a:pPr>
            <a:r>
              <a:rPr b="0" i="0" lang="en-US" sz="1200" u="none" cap="none" strike="noStrike">
                <a:solidFill>
                  <a:srgbClr val="4A5568"/>
                </a:solidFill>
                <a:latin typeface="Calibri"/>
                <a:ea typeface="Calibri"/>
                <a:cs typeface="Calibri"/>
                <a:sym typeface="Calibri"/>
              </a:rPr>
              <a:t>Naïve Bayes independence assumption satisfied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232" name="Shape 232"/>
        <p:cNvGrpSpPr/>
        <p:nvPr/>
      </p:nvGrpSpPr>
      <p:grpSpPr>
        <a:xfrm>
          <a:off x="0" y="0"/>
          <a:ext cx="0" cy="0"/>
          <a:chOff x="0" y="0"/>
          <a:chExt cx="0" cy="0"/>
        </a:xfrm>
      </p:grpSpPr>
      <p:sp>
        <p:nvSpPr>
          <p:cNvPr id="233" name="Google Shape;233;p6"/>
          <p:cNvSpPr/>
          <p:nvPr/>
        </p:nvSpPr>
        <p:spPr>
          <a:xfrm>
            <a:off x="0" y="0"/>
            <a:ext cx="9144000" cy="77724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Model Results — Unbalanced Data</a:t>
            </a:r>
            <a:endParaRPr b="0" i="0" sz="2600" u="none" cap="none" strike="noStrike">
              <a:solidFill>
                <a:schemeClr val="dk1"/>
              </a:solidFill>
              <a:latin typeface="Calibri"/>
              <a:ea typeface="Calibri"/>
              <a:cs typeface="Calibri"/>
              <a:sym typeface="Calibri"/>
            </a:endParaRPr>
          </a:p>
        </p:txBody>
      </p:sp>
      <p:sp>
        <p:nvSpPr>
          <p:cNvPr id="235" name="Google Shape;235;p6"/>
          <p:cNvSpPr/>
          <p:nvPr/>
        </p:nvSpPr>
        <p:spPr>
          <a:xfrm>
            <a:off x="274320" y="914400"/>
            <a:ext cx="4114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CV Accuracy (100 runs)</a:t>
            </a:r>
            <a:endParaRPr b="0" i="0" sz="1400" u="none" cap="none" strike="noStrike">
              <a:solidFill>
                <a:schemeClr val="dk1"/>
              </a:solidFill>
              <a:latin typeface="Calibri"/>
              <a:ea typeface="Calibri"/>
              <a:cs typeface="Calibri"/>
              <a:sym typeface="Calibri"/>
            </a:endParaRPr>
          </a:p>
        </p:txBody>
      </p:sp>
      <p:sp>
        <p:nvSpPr>
          <p:cNvPr id="236" name="Google Shape;236;p6"/>
          <p:cNvSpPr/>
          <p:nvPr/>
        </p:nvSpPr>
        <p:spPr>
          <a:xfrm>
            <a:off x="4754880" y="914400"/>
            <a:ext cx="4114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Confusion Matrix</a:t>
            </a:r>
            <a:endParaRPr b="0" i="0" sz="1400" u="none" cap="none" strike="noStrike">
              <a:solidFill>
                <a:schemeClr val="dk1"/>
              </a:solidFill>
              <a:latin typeface="Calibri"/>
              <a:ea typeface="Calibri"/>
              <a:cs typeface="Calibri"/>
              <a:sym typeface="Calibri"/>
            </a:endParaRPr>
          </a:p>
        </p:txBody>
      </p:sp>
      <p:sp>
        <p:nvSpPr>
          <p:cNvPr id="237" name="Google Shape;237;p6"/>
          <p:cNvSpPr/>
          <p:nvPr/>
        </p:nvSpPr>
        <p:spPr>
          <a:xfrm>
            <a:off x="274320" y="4069080"/>
            <a:ext cx="8595360" cy="777240"/>
          </a:xfrm>
          <a:prstGeom prst="rect">
            <a:avLst/>
          </a:prstGeom>
          <a:solidFill>
            <a:srgbClr val="FFF3CD"/>
          </a:solidFill>
          <a:ln cap="flat" cmpd="sng" w="19050">
            <a:solidFill>
              <a:srgbClr val="FFC10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a:off x="457200" y="406908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56404"/>
              </a:buClr>
              <a:buSzPts val="1300"/>
              <a:buFont typeface="Calibri"/>
              <a:buNone/>
            </a:pPr>
            <a:r>
              <a:rPr b="1" i="0" lang="en-US" sz="1300" u="none" cap="none" strike="noStrike">
                <a:solidFill>
                  <a:srgbClr val="856404"/>
                </a:solidFill>
                <a:latin typeface="Calibri"/>
                <a:ea typeface="Calibri"/>
                <a:cs typeface="Calibri"/>
                <a:sym typeface="Calibri"/>
              </a:rPr>
              <a:t>⚠️  91% accuracy is misleading — model predicts class 0 almost exclusively. Class 1 recall = 0.2</a:t>
            </a:r>
            <a:r>
              <a:rPr b="1" lang="en-US" sz="1300">
                <a:solidFill>
                  <a:srgbClr val="856404"/>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pic>
        <p:nvPicPr>
          <p:cNvPr id="239" name="Google Shape;239;p6"/>
          <p:cNvPicPr preferRelativeResize="0"/>
          <p:nvPr/>
        </p:nvPicPr>
        <p:blipFill>
          <a:blip r:embed="rId3">
            <a:alphaModFix/>
          </a:blip>
          <a:stretch>
            <a:fillRect/>
          </a:stretch>
        </p:blipFill>
        <p:spPr>
          <a:xfrm>
            <a:off x="365750" y="1356350"/>
            <a:ext cx="4236325" cy="2484125"/>
          </a:xfrm>
          <a:prstGeom prst="rect">
            <a:avLst/>
          </a:prstGeom>
          <a:noFill/>
          <a:ln>
            <a:noFill/>
          </a:ln>
        </p:spPr>
      </p:pic>
      <p:pic>
        <p:nvPicPr>
          <p:cNvPr id="240" name="Google Shape;240;p6"/>
          <p:cNvPicPr preferRelativeResize="0"/>
          <p:nvPr/>
        </p:nvPicPr>
        <p:blipFill>
          <a:blip r:embed="rId4">
            <a:alphaModFix/>
          </a:blip>
          <a:stretch>
            <a:fillRect/>
          </a:stretch>
        </p:blipFill>
        <p:spPr>
          <a:xfrm>
            <a:off x="4754875" y="1329700"/>
            <a:ext cx="3931925" cy="2484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C"/>
        </a:solidFill>
      </p:bgPr>
    </p:bg>
    <p:spTree>
      <p:nvGrpSpPr>
        <p:cNvPr id="245" name="Shape 245"/>
        <p:cNvGrpSpPr/>
        <p:nvPr/>
      </p:nvGrpSpPr>
      <p:grpSpPr>
        <a:xfrm>
          <a:off x="0" y="0"/>
          <a:ext cx="0" cy="0"/>
          <a:chOff x="0" y="0"/>
          <a:chExt cx="0" cy="0"/>
        </a:xfrm>
      </p:grpSpPr>
      <p:sp>
        <p:nvSpPr>
          <p:cNvPr id="246" name="Google Shape;246;p7"/>
          <p:cNvSpPr/>
          <p:nvPr/>
        </p:nvSpPr>
        <p:spPr>
          <a:xfrm>
            <a:off x="0" y="0"/>
            <a:ext cx="9144000" cy="777240"/>
          </a:xfrm>
          <a:prstGeom prst="rect">
            <a:avLst/>
          </a:prstGeom>
          <a:solidFill>
            <a:srgbClr val="155724"/>
          </a:solidFill>
          <a:ln cap="flat" cmpd="sng" w="12700">
            <a:solidFill>
              <a:srgbClr val="1E27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7"/>
          <p:cNvSpPr/>
          <p:nvPr/>
        </p:nvSpPr>
        <p:spPr>
          <a:xfrm>
            <a:off x="365760" y="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Model Results — Balanced Data (50/50)</a:t>
            </a:r>
            <a:endParaRPr b="0" i="0" sz="2600" u="none" cap="none" strike="noStrike">
              <a:solidFill>
                <a:schemeClr val="dk1"/>
              </a:solidFill>
              <a:latin typeface="Calibri"/>
              <a:ea typeface="Calibri"/>
              <a:cs typeface="Calibri"/>
              <a:sym typeface="Calibri"/>
            </a:endParaRPr>
          </a:p>
        </p:txBody>
      </p:sp>
      <p:sp>
        <p:nvSpPr>
          <p:cNvPr id="248" name="Google Shape;248;p7"/>
          <p:cNvSpPr/>
          <p:nvPr/>
        </p:nvSpPr>
        <p:spPr>
          <a:xfrm>
            <a:off x="274320" y="914400"/>
            <a:ext cx="85953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CV Accuracy Comparison: Unbalanced vs Balanced</a:t>
            </a:r>
            <a:endParaRPr b="0" i="0" sz="1400" u="none" cap="none" strike="noStrike">
              <a:solidFill>
                <a:schemeClr val="dk1"/>
              </a:solidFill>
              <a:latin typeface="Calibri"/>
              <a:ea typeface="Calibri"/>
              <a:cs typeface="Calibri"/>
              <a:sym typeface="Calibri"/>
            </a:endParaRPr>
          </a:p>
        </p:txBody>
      </p:sp>
      <p:sp>
        <p:nvSpPr>
          <p:cNvPr id="249" name="Google Shape;249;p7"/>
          <p:cNvSpPr/>
          <p:nvPr/>
        </p:nvSpPr>
        <p:spPr>
          <a:xfrm>
            <a:off x="5760720" y="914400"/>
            <a:ext cx="310896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1400"/>
              <a:buFont typeface="Calibri"/>
              <a:buNone/>
            </a:pPr>
            <a:r>
              <a:rPr b="1" i="0" lang="en-US" sz="1400" u="none" cap="none" strike="noStrike">
                <a:solidFill>
                  <a:srgbClr val="1E2761"/>
                </a:solidFill>
                <a:latin typeface="Calibri"/>
                <a:ea typeface="Calibri"/>
                <a:cs typeface="Calibri"/>
                <a:sym typeface="Calibri"/>
              </a:rPr>
              <a:t>Confusion Matrix (Balanced)</a:t>
            </a:r>
            <a:endParaRPr b="0" i="0" sz="1400" u="none" cap="none" strike="noStrike">
              <a:solidFill>
                <a:schemeClr val="dk1"/>
              </a:solidFill>
              <a:latin typeface="Calibri"/>
              <a:ea typeface="Calibri"/>
              <a:cs typeface="Calibri"/>
              <a:sym typeface="Calibri"/>
            </a:endParaRPr>
          </a:p>
        </p:txBody>
      </p:sp>
      <p:sp>
        <p:nvSpPr>
          <p:cNvPr id="250" name="Google Shape;250;p7"/>
          <p:cNvSpPr/>
          <p:nvPr/>
        </p:nvSpPr>
        <p:spPr>
          <a:xfrm>
            <a:off x="274320" y="3794760"/>
            <a:ext cx="8595360" cy="777240"/>
          </a:xfrm>
          <a:prstGeom prst="rect">
            <a:avLst/>
          </a:prstGeom>
          <a:solidFill>
            <a:srgbClr val="D4EDDA"/>
          </a:solidFill>
          <a:ln cap="flat" cmpd="sng" w="19050">
            <a:solidFill>
              <a:srgbClr val="28A7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457200" y="3794760"/>
            <a:ext cx="8229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55724"/>
              </a:buClr>
              <a:buSzPts val="1300"/>
              <a:buFont typeface="Calibri"/>
              <a:buNone/>
            </a:pPr>
            <a:r>
              <a:rPr b="1" i="0" lang="en-US" sz="1300" u="none" cap="none" strike="noStrike">
                <a:solidFill>
                  <a:srgbClr val="155724"/>
                </a:solidFill>
                <a:latin typeface="Calibri"/>
                <a:ea typeface="Calibri"/>
                <a:cs typeface="Calibri"/>
                <a:sym typeface="Calibri"/>
              </a:rPr>
              <a:t>✓  Balanced model: ~75-76% accuracy with</a:t>
            </a:r>
            <a:r>
              <a:rPr b="1" lang="en-US" sz="1300">
                <a:solidFill>
                  <a:srgbClr val="155724"/>
                </a:solidFill>
                <a:latin typeface="Calibri"/>
                <a:ea typeface="Calibri"/>
                <a:cs typeface="Calibri"/>
                <a:sym typeface="Calibri"/>
              </a:rPr>
              <a:t> 0.74</a:t>
            </a:r>
            <a:r>
              <a:rPr b="1" i="0" lang="en-US" sz="1300" u="none" cap="none" strike="noStrike">
                <a:solidFill>
                  <a:srgbClr val="155724"/>
                </a:solidFill>
                <a:latin typeface="Calibri"/>
                <a:ea typeface="Calibri"/>
                <a:cs typeface="Calibri"/>
                <a:sym typeface="Calibri"/>
              </a:rPr>
              <a:t> recall for</a:t>
            </a:r>
            <a:r>
              <a:rPr b="1" lang="en-US" sz="1300">
                <a:solidFill>
                  <a:srgbClr val="155724"/>
                </a:solidFill>
                <a:latin typeface="Calibri"/>
                <a:ea typeface="Calibri"/>
                <a:cs typeface="Calibri"/>
                <a:sym typeface="Calibri"/>
              </a:rPr>
              <a:t> class 1 and 0.77 for class 0</a:t>
            </a:r>
            <a:r>
              <a:rPr b="1" i="0" lang="en-US" sz="1300" u="none" cap="none" strike="noStrike">
                <a:solidFill>
                  <a:srgbClr val="155724"/>
                </a:solidFill>
                <a:latin typeface="Calibri"/>
                <a:ea typeface="Calibri"/>
                <a:cs typeface="Calibri"/>
                <a:sym typeface="Calibri"/>
              </a:rPr>
              <a:t>. Precision &amp; F1 ≈ 0.7</a:t>
            </a:r>
            <a:r>
              <a:rPr b="1" lang="en-US" sz="1300">
                <a:solidFill>
                  <a:srgbClr val="155724"/>
                </a:solidFill>
                <a:latin typeface="Calibri"/>
                <a:ea typeface="Calibri"/>
                <a:cs typeface="Calibri"/>
                <a:sym typeface="Calibri"/>
              </a:rPr>
              <a:t>5</a:t>
            </a:r>
            <a:r>
              <a:rPr b="1" i="0" lang="en-US" sz="1300" u="none" cap="none" strike="noStrike">
                <a:solidFill>
                  <a:srgbClr val="155724"/>
                </a:solidFill>
                <a:latin typeface="Calibri"/>
                <a:ea typeface="Calibri"/>
                <a:cs typeface="Calibri"/>
                <a:sym typeface="Calibri"/>
              </a:rPr>
              <a:t> across the board.</a:t>
            </a:r>
            <a:endParaRPr b="0" i="0" sz="1300" u="none" cap="none" strike="noStrike">
              <a:solidFill>
                <a:schemeClr val="dk1"/>
              </a:solidFill>
              <a:latin typeface="Calibri"/>
              <a:ea typeface="Calibri"/>
              <a:cs typeface="Calibri"/>
              <a:sym typeface="Calibri"/>
            </a:endParaRPr>
          </a:p>
        </p:txBody>
      </p:sp>
      <p:pic>
        <p:nvPicPr>
          <p:cNvPr id="252" name="Google Shape;252;p7"/>
          <p:cNvPicPr preferRelativeResize="0"/>
          <p:nvPr/>
        </p:nvPicPr>
        <p:blipFill>
          <a:blip r:embed="rId3">
            <a:alphaModFix/>
          </a:blip>
          <a:stretch>
            <a:fillRect/>
          </a:stretch>
        </p:blipFill>
        <p:spPr>
          <a:xfrm>
            <a:off x="152400" y="1280150"/>
            <a:ext cx="5455926" cy="2286000"/>
          </a:xfrm>
          <a:prstGeom prst="rect">
            <a:avLst/>
          </a:prstGeom>
          <a:noFill/>
          <a:ln>
            <a:noFill/>
          </a:ln>
        </p:spPr>
      </p:pic>
      <p:pic>
        <p:nvPicPr>
          <p:cNvPr id="253" name="Google Shape;253;p7"/>
          <p:cNvPicPr preferRelativeResize="0"/>
          <p:nvPr/>
        </p:nvPicPr>
        <p:blipFill>
          <a:blip r:embed="rId4">
            <a:alphaModFix/>
          </a:blip>
          <a:stretch>
            <a:fillRect/>
          </a:stretch>
        </p:blipFill>
        <p:spPr>
          <a:xfrm>
            <a:off x="5760725" y="1280150"/>
            <a:ext cx="2926075" cy="228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5724"/>
        </a:solidFill>
      </p:bgPr>
    </p:bg>
    <p:spTree>
      <p:nvGrpSpPr>
        <p:cNvPr id="258" name="Shape 258"/>
        <p:cNvGrpSpPr/>
        <p:nvPr/>
      </p:nvGrpSpPr>
      <p:grpSpPr>
        <a:xfrm>
          <a:off x="0" y="0"/>
          <a:ext cx="0" cy="0"/>
          <a:chOff x="0" y="0"/>
          <a:chExt cx="0" cy="0"/>
        </a:xfrm>
      </p:grpSpPr>
      <p:sp>
        <p:nvSpPr>
          <p:cNvPr id="259" name="Google Shape;259;p8"/>
          <p:cNvSpPr/>
          <p:nvPr/>
        </p:nvSpPr>
        <p:spPr>
          <a:xfrm>
            <a:off x="0" y="0"/>
            <a:ext cx="164592" cy="5143500"/>
          </a:xfrm>
          <a:prstGeom prst="rect">
            <a:avLst/>
          </a:prstGeom>
          <a:solidFill>
            <a:srgbClr val="155724"/>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457200" y="27432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Summary &amp; What's Next</a:t>
            </a:r>
            <a:endParaRPr b="0" i="0" sz="3000" u="none" cap="none" strike="noStrike">
              <a:solidFill>
                <a:schemeClr val="dk1"/>
              </a:solidFill>
              <a:latin typeface="Calibri"/>
              <a:ea typeface="Calibri"/>
              <a:cs typeface="Calibri"/>
              <a:sym typeface="Calibri"/>
            </a:endParaRPr>
          </a:p>
        </p:txBody>
      </p:sp>
      <p:sp>
        <p:nvSpPr>
          <p:cNvPr id="261" name="Google Shape;261;p8"/>
          <p:cNvSpPr/>
          <p:nvPr/>
        </p:nvSpPr>
        <p:spPr>
          <a:xfrm>
            <a:off x="457200" y="1097280"/>
            <a:ext cx="4023360" cy="3474720"/>
          </a:xfrm>
          <a:prstGeom prst="rect">
            <a:avLst/>
          </a:prstGeom>
          <a:solidFill>
            <a:srgbClr val="1A3A6B"/>
          </a:solidFill>
          <a:ln cap="flat" cmpd="sng" w="12700">
            <a:solidFill>
              <a:srgbClr val="3A86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640080" y="1188720"/>
            <a:ext cx="3657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86FF"/>
              </a:buClr>
              <a:buSzPts val="1600"/>
              <a:buFont typeface="Calibri"/>
              <a:buNone/>
            </a:pPr>
            <a:r>
              <a:rPr b="1" i="0" lang="en-US" sz="1600" u="none" cap="none" strike="noStrike">
                <a:solidFill>
                  <a:srgbClr val="3A86FF"/>
                </a:solidFill>
                <a:latin typeface="Calibri"/>
                <a:ea typeface="Calibri"/>
                <a:cs typeface="Calibri"/>
                <a:sym typeface="Calibri"/>
              </a:rPr>
              <a:t>Key Takeaways</a:t>
            </a:r>
            <a:endParaRPr b="0" i="0" sz="1600" u="none" cap="none" strike="noStrike">
              <a:solidFill>
                <a:schemeClr val="dk1"/>
              </a:solidFill>
              <a:latin typeface="Calibri"/>
              <a:ea typeface="Calibri"/>
              <a:cs typeface="Calibri"/>
              <a:sym typeface="Calibri"/>
            </a:endParaRPr>
          </a:p>
        </p:txBody>
      </p:sp>
      <p:sp>
        <p:nvSpPr>
          <p:cNvPr id="263" name="Google Shape;263;p8"/>
          <p:cNvSpPr/>
          <p:nvPr/>
        </p:nvSpPr>
        <p:spPr>
          <a:xfrm>
            <a:off x="640080" y="1691640"/>
            <a:ext cx="3657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FFFFF"/>
              </a:buClr>
              <a:buSzPts val="1300"/>
              <a:buFont typeface="Calibri"/>
              <a:buChar char="•"/>
            </a:pPr>
            <a:r>
              <a:rPr b="0" i="0" lang="en-US" sz="1300" u="none" cap="none" strike="noStrike">
                <a:solidFill>
                  <a:srgbClr val="FFFFFF"/>
                </a:solidFill>
                <a:latin typeface="Calibri"/>
                <a:ea typeface="Calibri"/>
                <a:cs typeface="Calibri"/>
                <a:sym typeface="Calibri"/>
              </a:rPr>
              <a:t>91% accuracy on unbalanced data is deceptive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300"/>
              <a:buFont typeface="Calibri"/>
              <a:buChar char="•"/>
            </a:pPr>
            <a:r>
              <a:rPr b="0" i="0" lang="en-US" sz="1300" u="none" cap="none" strike="noStrike">
                <a:solidFill>
                  <a:srgbClr val="FFFFFF"/>
                </a:solidFill>
                <a:latin typeface="Calibri"/>
                <a:ea typeface="Calibri"/>
                <a:cs typeface="Calibri"/>
                <a:sym typeface="Calibri"/>
              </a:rPr>
              <a:t>Balancing data → honest 76% accuracy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300"/>
              <a:buFont typeface="Calibri"/>
              <a:buChar char="•"/>
            </a:pPr>
            <a:r>
              <a:rPr b="0" i="0" lang="en-US" sz="1300" u="none" cap="none" strike="noStrike">
                <a:solidFill>
                  <a:srgbClr val="FFFFFF"/>
                </a:solidFill>
                <a:latin typeface="Calibri"/>
                <a:ea typeface="Calibri"/>
                <a:cs typeface="Calibri"/>
                <a:sym typeface="Calibri"/>
              </a:rPr>
              <a:t>Features are approximately Gaussian and independent — GNB assumptions satisfied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FFFFFF"/>
              </a:buClr>
              <a:buSzPts val="1300"/>
              <a:buFont typeface="Calibri"/>
              <a:buChar char="•"/>
            </a:pPr>
            <a:r>
              <a:rPr b="0" i="0" lang="en-US" sz="1300" u="none" cap="none" strike="noStrike">
                <a:solidFill>
                  <a:srgbClr val="FFFFFF"/>
                </a:solidFill>
                <a:latin typeface="Calibri"/>
                <a:ea typeface="Calibri"/>
                <a:cs typeface="Calibri"/>
                <a:sym typeface="Calibri"/>
              </a:rPr>
              <a:t>Class imbalance is the #1 issue to address</a:t>
            </a:r>
            <a:endParaRPr b="0" i="0" sz="1300" u="none" cap="none" strike="noStrike">
              <a:solidFill>
                <a:schemeClr val="dk1"/>
              </a:solidFill>
              <a:latin typeface="Calibri"/>
              <a:ea typeface="Calibri"/>
              <a:cs typeface="Calibri"/>
              <a:sym typeface="Calibri"/>
            </a:endParaRPr>
          </a:p>
        </p:txBody>
      </p:sp>
      <p:sp>
        <p:nvSpPr>
          <p:cNvPr id="264" name="Google Shape;264;p8"/>
          <p:cNvSpPr/>
          <p:nvPr/>
        </p:nvSpPr>
        <p:spPr>
          <a:xfrm>
            <a:off x="4754880" y="1097280"/>
            <a:ext cx="4114800" cy="3474720"/>
          </a:xfrm>
          <a:prstGeom prst="rect">
            <a:avLst/>
          </a:prstGeom>
          <a:solidFill>
            <a:srgbClr val="1A3A6B"/>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937760" y="1188720"/>
            <a:ext cx="3749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600"/>
              <a:buFont typeface="Calibri"/>
              <a:buNone/>
            </a:pPr>
            <a:r>
              <a:rPr b="1" i="0" lang="en-US" sz="1600" u="none" cap="none" strike="noStrike">
                <a:solidFill>
                  <a:srgbClr val="CADCFC"/>
                </a:solidFill>
                <a:latin typeface="Calibri"/>
                <a:ea typeface="Calibri"/>
                <a:cs typeface="Calibri"/>
                <a:sym typeface="Calibri"/>
              </a:rPr>
              <a:t>What's Next</a:t>
            </a:r>
            <a:endParaRPr b="0" i="0" sz="1600" u="none" cap="none" strike="noStrike">
              <a:solidFill>
                <a:schemeClr val="dk1"/>
              </a:solidFill>
              <a:latin typeface="Calibri"/>
              <a:ea typeface="Calibri"/>
              <a:cs typeface="Calibri"/>
              <a:sym typeface="Calibri"/>
            </a:endParaRPr>
          </a:p>
        </p:txBody>
      </p:sp>
      <p:sp>
        <p:nvSpPr>
          <p:cNvPr id="266" name="Google Shape;266;p8"/>
          <p:cNvSpPr/>
          <p:nvPr/>
        </p:nvSpPr>
        <p:spPr>
          <a:xfrm>
            <a:off x="4937760" y="1691640"/>
            <a:ext cx="374904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Try Random Forest, Logistic Regression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SMOTE oversampling instead of undersampling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Feature selection across 51 predictors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CADCFC"/>
              </a:buClr>
              <a:buSzPts val="1300"/>
              <a:buFont typeface="Calibri"/>
              <a:buChar char="•"/>
            </a:pPr>
            <a:r>
              <a:rPr b="0" i="0" lang="en-US" sz="1300" u="none" cap="none" strike="noStrike">
                <a:solidFill>
                  <a:srgbClr val="CADCFC"/>
                </a:solidFill>
                <a:latin typeface="Calibri"/>
                <a:ea typeface="Calibri"/>
                <a:cs typeface="Calibri"/>
                <a:sym typeface="Calibri"/>
              </a:rPr>
              <a:t>Evaluate with AUC-ROC</a:t>
            </a:r>
            <a:endParaRPr b="0" i="0" sz="1300" u="none" cap="none" strike="noStrike">
              <a:solidFill>
                <a:schemeClr val="dk1"/>
              </a:solidFill>
              <a:latin typeface="Calibri"/>
              <a:ea typeface="Calibri"/>
              <a:cs typeface="Calibri"/>
              <a:sym typeface="Calibri"/>
            </a:endParaRPr>
          </a:p>
        </p:txBody>
      </p:sp>
      <p:sp>
        <p:nvSpPr>
          <p:cNvPr id="267" name="Google Shape;267;p8"/>
          <p:cNvSpPr/>
          <p:nvPr/>
        </p:nvSpPr>
        <p:spPr>
          <a:xfrm>
            <a:off x="457200" y="466344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800"/>
              <a:buFont typeface="Calibri"/>
              <a:buNone/>
            </a:pPr>
            <a:r>
              <a:rPr b="0" i="1" lang="en-US" sz="1800" u="none" cap="none" strike="noStrike">
                <a:solidFill>
                  <a:srgbClr val="CADCFC"/>
                </a:solidFill>
                <a:latin typeface="Calibri"/>
                <a:ea typeface="Calibri"/>
                <a:cs typeface="Calibri"/>
                <a:sym typeface="Calibri"/>
              </a:rPr>
              <a:t>Questions?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2026-03-16T03:40:05Z</dcterms:created>
  <dc:creator>Abraham De Vargas</dc:creator>
</cp:coreProperties>
</file>