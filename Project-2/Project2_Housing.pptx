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Welcome everyone. This is Project 2 from the Deep Dive Data Science cohort — a linear regression model to predict housing prices using the Ames, Iowa dataset. The dataset has 2,637 home sales and 81 features. Our primary performance metric is RMSPE — Root Mean Squared Percentage Error — which I'll explain in a moment. My name is Abraham De Vargas, and today I'll walk you through the full pipeline from data cleaning to our final recommended model.</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Here's a quick roadmap for the presentation. We'll cover four main areas: the business problem and why it matters, the data and how we cleaned it, the models we built and their results, and finally the key takeaway about feature selection. The presentation follows the same structure as the notebook, so if you want to follow along with the code, each section maps directly.</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The core question here is: given what we know about a house, what will it sell for? This is a supervised regression problem — we have labeled examples with known sale prices, and we're learning a function to predict price from features. I chose RMSPE as the metric because it's proportional — a $20k error on a $100k home is a 20% miss, while the same dollar error on a $500k home is only 4%. Plain RMSE would treat those identically, which doesn't reflect real-world impact. The dataset has roughly 80 features covering everything from square footage and neighborhood to garage size and basement quality.</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Data cleaning had three main decisions. First, I dropped columns with over 80% null values — Pool QC, Misc Feature, and Alley. Imputing that much data would essentially be making it up. Second, for categorical nulls like Garage Type or Fireplace Quality, a null actually means the feature doesn't exist — no garage, no fireplace — so I filled those with the string 'None' to preserve that meaning as its own category. For numeric nulls, I used the column median rather than the mean, because housing prices are right-skewed and the mean gets pulled up by expensive outliers. After one-hot encoding all the categorical columns, we went from 77 features to 263. No duplicates were found.</a:t>
            </a:r>
            <a:endParaRPr/>
          </a:p>
        </p:txBody>
      </p:sp>
      <p:sp>
        <p:nvSpPr>
          <p:cNvPr id="110" name="Google Shape;11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Two key EDA findings shaped the modeling decisions. First, SalePrice is clearly right-skewed — a long tail of expensive homes pulls the distribution right. Log-transforming it makes it much more symmetric, which is better for linear regression. Second, the correlation heatmap revealed multicollinearity among the top predictors — for example, Garage Cars and Garage Area are both correlated with price AND with each other. This is one of the reasons regularization is important here. The top predictors by correlation are Overall Quality, above-ground living area, garage capacity, and basement square footage — all very intuitive.</a:t>
            </a:r>
            <a:endParaRPr/>
          </a:p>
        </p:txBody>
      </p:sp>
      <p:sp>
        <p:nvSpPr>
          <p:cNvPr id="146" name="Google Shape;1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The modeling pipeline has five steps. One: log-transform SalePrice before training so we're optimizing for proportional errors. Two: scale features using StandardScaler — this is required for Ridge and Lasso so large-scale features like square footage don't dominate the regularization penalty. Critically, the scaler is fit inside the CV loop on training data only — fitting it on the full dataset before splitting would be data leakage. Three: run 100 iterations of train/test splitting to get a stable RMSPE estimate — a single split can be misleading. Four: evaluate three models — plain linear regression, Ridge with L2 regularization, and Lasso with L1. Five: use Lasso's property of zeroing out coefficients as automatic feature selection to build a lean model.</a:t>
            </a:r>
            <a:endParaRPr/>
          </a:p>
        </p:txBody>
      </p:sp>
      <p:sp>
        <p:nvSpPr>
          <p:cNvPr id="168" name="Google Shape;16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Here are the results. Plain linear regression gets 0.1619 mean RMSPE. Ridge improves that to 0.1503, and Lasso is slightly better at 0.1485. But the standout result is the Lean Ridge model — after using Lasso to drop 85 low-signal features, retraining Ridge on the remaining 177 features gives us 0.1451. That's a 3.5% improvement over full Ridge while using 32% fewer features. On a single held-out test set, the final Ridge model has an RMSE of $19,360 — meaning on average, predictions are within about $19k of the true price. The Lean Ridge is the recommended model because it's both more accurate and more interpretable. One thing worth noting — removing just 2 outlier homes, large properties with anomalously low sale prices that were likely non-market transactions, had a noticeable effect on model performance. It's a good reminder that a small amount of data cleaning can matter more than model choice.</a:t>
            </a:r>
            <a:endParaRPr/>
          </a:p>
        </p:txBody>
      </p:sp>
      <p:sp>
        <p:nvSpPr>
          <p:cNvPr id="211" name="Google Shape;21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The predicted vs actual plot shows points clustering tightly along the diagonal — especially in the moderate price range of $100k to $300k. The spread increases at higher prices, which is typical for linear models on skewed targets. Predictions at the very high end are less reliable. The residuals plot is generally centered around zero with no strong pattern, meaning there's no systematic over- or under-prediction. There's some heteroscedasticity — wider spread at higher prices — which could be addressed with more advanced models. The top features by Ridge coefficient include Overall Quality, living area, and roof material type. The neighborhood and sale condition features also appear, which aligns with real-world real estate intuition.</a:t>
            </a:r>
            <a:endParaRPr/>
          </a:p>
        </p:txBody>
      </p:sp>
      <p:sp>
        <p:nvSpPr>
          <p:cNvPr id="262" name="Google Shape;2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To summarize: the Lean Ridge model using 177 Lasso-selected features outperformed every full-feature model. The key lessons are: log-transforming the target is critical for optimizing percentage error; feature scaling must happen inside the CV loop to avoid leakage; and Lasso is a powerful automatic feature selector that actually improved performance by removing noise. For future work, I'd want to try gradient boosting models like XGBoost, which can capture non-linear interactions that linear regression misses, tune the regularization alpha with GridSearchCV, and engineer new features like house age and total bathroom count. I'm happy to take any questions.</a:t>
            </a:r>
            <a:endParaRPr/>
          </a:p>
        </p:txBody>
      </p:sp>
      <p:sp>
        <p:nvSpPr>
          <p:cNvPr id="286" name="Google Shape;28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3"/>
          <p:cNvSpPr/>
          <p:nvPr/>
        </p:nvSpPr>
        <p:spPr>
          <a:xfrm>
            <a:off x="0" y="0"/>
            <a:ext cx="3474720" cy="51435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p:nvPr/>
        </p:nvSpPr>
        <p:spPr>
          <a:xfrm>
            <a:off x="3474720" y="0"/>
            <a:ext cx="54864" cy="5143500"/>
          </a:xfrm>
          <a:prstGeom prst="rect">
            <a:avLst/>
          </a:prstGeom>
          <a:solidFill>
            <a:srgbClr val="F0C040"/>
          </a:solidFill>
          <a:ln cap="flat" cmpd="sng" w="12700">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
          <p:cNvSpPr/>
          <p:nvPr/>
        </p:nvSpPr>
        <p:spPr>
          <a:xfrm>
            <a:off x="274320" y="1005840"/>
            <a:ext cx="2926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C040"/>
              </a:buClr>
              <a:buSzPts val="1100"/>
              <a:buFont typeface="Calibri"/>
              <a:buNone/>
            </a:pPr>
            <a:r>
              <a:rPr b="1" i="0" lang="en-US" sz="1100" u="none" cap="none" strike="noStrike">
                <a:solidFill>
                  <a:srgbClr val="F0C040"/>
                </a:solidFill>
                <a:latin typeface="Calibri"/>
                <a:ea typeface="Calibri"/>
                <a:cs typeface="Calibri"/>
                <a:sym typeface="Calibri"/>
              </a:rPr>
              <a:t>PROJECT 2</a:t>
            </a:r>
            <a:endParaRPr b="0" i="0" sz="1100" u="none" cap="none" strike="noStrike">
              <a:solidFill>
                <a:schemeClr val="dk1"/>
              </a:solidFill>
              <a:latin typeface="Calibri"/>
              <a:ea typeface="Calibri"/>
              <a:cs typeface="Calibri"/>
              <a:sym typeface="Calibri"/>
            </a:endParaRPr>
          </a:p>
        </p:txBody>
      </p:sp>
      <p:sp>
        <p:nvSpPr>
          <p:cNvPr id="19" name="Google Shape;19;p3"/>
          <p:cNvSpPr/>
          <p:nvPr/>
        </p:nvSpPr>
        <p:spPr>
          <a:xfrm>
            <a:off x="274320" y="1417320"/>
            <a:ext cx="301752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400"/>
              <a:buFont typeface="Trebuchet MS"/>
              <a:buNone/>
            </a:pPr>
            <a:r>
              <a:rPr b="1" i="0" lang="en-US" sz="3400" u="none" cap="none" strike="noStrike">
                <a:solidFill>
                  <a:srgbClr val="FFFFFF"/>
                </a:solidFill>
                <a:latin typeface="Trebuchet MS"/>
                <a:ea typeface="Trebuchet MS"/>
                <a:cs typeface="Trebuchet MS"/>
                <a:sym typeface="Trebuchet MS"/>
              </a:rPr>
              <a:t>Housing Price</a:t>
            </a:r>
            <a:endParaRPr b="0" i="0" sz="3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3400"/>
              <a:buFont typeface="Trebuchet MS"/>
              <a:buNone/>
            </a:pPr>
            <a:r>
              <a:rPr b="1" i="0" lang="en-US" sz="3400" u="none" cap="none" strike="noStrike">
                <a:solidFill>
                  <a:srgbClr val="FFFFFF"/>
                </a:solidFill>
                <a:latin typeface="Trebuchet MS"/>
                <a:ea typeface="Trebuchet MS"/>
                <a:cs typeface="Trebuchet MS"/>
                <a:sym typeface="Trebuchet MS"/>
              </a:rPr>
              <a:t>Prediction</a:t>
            </a:r>
            <a:endParaRPr b="0" i="0" sz="3400" u="none" cap="none" strike="noStrike">
              <a:solidFill>
                <a:schemeClr val="dk1"/>
              </a:solidFill>
              <a:latin typeface="Calibri"/>
              <a:ea typeface="Calibri"/>
              <a:cs typeface="Calibri"/>
              <a:sym typeface="Calibri"/>
            </a:endParaRPr>
          </a:p>
        </p:txBody>
      </p:sp>
      <p:sp>
        <p:nvSpPr>
          <p:cNvPr id="20" name="Google Shape;20;p3"/>
          <p:cNvSpPr/>
          <p:nvPr/>
        </p:nvSpPr>
        <p:spPr>
          <a:xfrm>
            <a:off x="274320" y="2880360"/>
            <a:ext cx="2834640" cy="36576"/>
          </a:xfrm>
          <a:prstGeom prst="rect">
            <a:avLst/>
          </a:prstGeom>
          <a:solidFill>
            <a:srgbClr val="CADC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a:off x="274320" y="2971800"/>
            <a:ext cx="29260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Abraham De Vargas</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274320" y="3291840"/>
            <a:ext cx="29260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BB8"/>
              </a:buClr>
              <a:buSzPts val="1100"/>
              <a:buFont typeface="Calibri"/>
              <a:buNone/>
            </a:pPr>
            <a:r>
              <a:rPr b="0" i="0" lang="en-US" sz="1100" u="none" cap="none" strike="noStrike">
                <a:solidFill>
                  <a:srgbClr val="8A9BB8"/>
                </a:solidFill>
                <a:latin typeface="Calibri"/>
                <a:ea typeface="Calibri"/>
                <a:cs typeface="Calibri"/>
                <a:sym typeface="Calibri"/>
              </a:rPr>
              <a:t>Deep Dive Data Science · Cohort-20</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A9BB8"/>
              </a:buClr>
              <a:buSzPts val="1100"/>
              <a:buFont typeface="Calibri"/>
              <a:buNone/>
            </a:pPr>
            <a:r>
              <a:rPr b="0" i="0" lang="en-US" sz="1100" u="none" cap="none" strike="noStrike">
                <a:solidFill>
                  <a:srgbClr val="8A9BB8"/>
                </a:solidFill>
                <a:latin typeface="Calibri"/>
                <a:ea typeface="Calibri"/>
                <a:cs typeface="Calibri"/>
                <a:sym typeface="Calibri"/>
              </a:rPr>
              <a:t>04/</a:t>
            </a:r>
            <a:r>
              <a:rPr lang="en-US" sz="1100">
                <a:solidFill>
                  <a:srgbClr val="8A9BB8"/>
                </a:solidFill>
                <a:latin typeface="Calibri"/>
                <a:ea typeface="Calibri"/>
                <a:cs typeface="Calibri"/>
                <a:sym typeface="Calibri"/>
              </a:rPr>
              <a:t>17</a:t>
            </a:r>
            <a:r>
              <a:rPr b="0" i="0" lang="en-US" sz="1100" u="none" cap="none" strike="noStrike">
                <a:solidFill>
                  <a:srgbClr val="8A9BB8"/>
                </a:solidFill>
                <a:latin typeface="Calibri"/>
                <a:ea typeface="Calibri"/>
                <a:cs typeface="Calibri"/>
                <a:sym typeface="Calibri"/>
              </a:rPr>
              <a:t>/2026</a:t>
            </a:r>
            <a:endParaRPr b="0" i="0" sz="1100" u="none" cap="none" strike="noStrike">
              <a:solidFill>
                <a:schemeClr val="dk1"/>
              </a:solidFill>
              <a:latin typeface="Calibri"/>
              <a:ea typeface="Calibri"/>
              <a:cs typeface="Calibri"/>
              <a:sym typeface="Calibri"/>
            </a:endParaRPr>
          </a:p>
        </p:txBody>
      </p:sp>
      <p:sp>
        <p:nvSpPr>
          <p:cNvPr id="23" name="Google Shape;23;p3"/>
          <p:cNvSpPr/>
          <p:nvPr/>
        </p:nvSpPr>
        <p:spPr>
          <a:xfrm>
            <a:off x="3840480" y="1645920"/>
            <a:ext cx="502920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2000"/>
              <a:buFont typeface="Trebuchet MS"/>
              <a:buNone/>
            </a:pPr>
            <a:r>
              <a:rPr b="0" i="0" lang="en-US" sz="2000" u="none" cap="none" strike="noStrike">
                <a:solidFill>
                  <a:srgbClr val="CADCFC"/>
                </a:solidFill>
                <a:latin typeface="Trebuchet MS"/>
                <a:ea typeface="Trebuchet MS"/>
                <a:cs typeface="Trebuchet MS"/>
                <a:sym typeface="Trebuchet MS"/>
              </a:rPr>
              <a:t>Using Ridge &amp; Lasso Regression</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CADCFC"/>
              </a:buClr>
              <a:buSzPts val="2000"/>
              <a:buFont typeface="Trebuchet MS"/>
              <a:buNone/>
            </a:pPr>
            <a:r>
              <a:rPr b="0" i="0" lang="en-US" sz="2000" u="none" cap="none" strike="noStrike">
                <a:solidFill>
                  <a:srgbClr val="CADCFC"/>
                </a:solidFill>
                <a:latin typeface="Trebuchet MS"/>
                <a:ea typeface="Trebuchet MS"/>
                <a:cs typeface="Trebuchet MS"/>
                <a:sym typeface="Trebuchet MS"/>
              </a:rPr>
              <a:t>to predict Ames, Iowa home sale prices</a:t>
            </a:r>
            <a:endParaRPr b="0" i="0" sz="2000" u="none" cap="none" strike="noStrike">
              <a:solidFill>
                <a:schemeClr val="dk1"/>
              </a:solidFill>
              <a:latin typeface="Calibri"/>
              <a:ea typeface="Calibri"/>
              <a:cs typeface="Calibri"/>
              <a:sym typeface="Calibri"/>
            </a:endParaRPr>
          </a:p>
        </p:txBody>
      </p:sp>
      <p:sp>
        <p:nvSpPr>
          <p:cNvPr id="24" name="Google Shape;24;p3"/>
          <p:cNvSpPr/>
          <p:nvPr/>
        </p:nvSpPr>
        <p:spPr>
          <a:xfrm>
            <a:off x="3840480" y="3108960"/>
            <a:ext cx="1554480" cy="1280160"/>
          </a:xfrm>
          <a:prstGeom prst="rect">
            <a:avLst/>
          </a:prstGeom>
          <a:solidFill>
            <a:srgbClr val="141B47"/>
          </a:solidFill>
          <a:ln cap="flat" cmpd="sng" w="25400">
            <a:solidFill>
              <a:srgbClr val="CADCFC"/>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3"/>
          <p:cNvSpPr/>
          <p:nvPr/>
        </p:nvSpPr>
        <p:spPr>
          <a:xfrm>
            <a:off x="3886200" y="3182112"/>
            <a:ext cx="1463040" cy="69128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2400"/>
              <a:buFont typeface="Trebuchet MS"/>
              <a:buNone/>
            </a:pPr>
            <a:r>
              <a:rPr b="1" i="0" lang="en-US" sz="2400" u="none" cap="none" strike="noStrike">
                <a:solidFill>
                  <a:srgbClr val="F0C040"/>
                </a:solidFill>
                <a:latin typeface="Trebuchet MS"/>
                <a:ea typeface="Trebuchet MS"/>
                <a:cs typeface="Trebuchet MS"/>
                <a:sym typeface="Trebuchet MS"/>
              </a:rPr>
              <a:t>2,637</a:t>
            </a:r>
            <a:endParaRPr b="0" i="0" sz="2400" u="none" cap="none" strike="noStrike">
              <a:solidFill>
                <a:schemeClr val="dk1"/>
              </a:solidFill>
              <a:latin typeface="Calibri"/>
              <a:ea typeface="Calibri"/>
              <a:cs typeface="Calibri"/>
              <a:sym typeface="Calibri"/>
            </a:endParaRPr>
          </a:p>
        </p:txBody>
      </p:sp>
      <p:sp>
        <p:nvSpPr>
          <p:cNvPr id="26" name="Google Shape;26;p3"/>
          <p:cNvSpPr/>
          <p:nvPr/>
        </p:nvSpPr>
        <p:spPr>
          <a:xfrm>
            <a:off x="3886200" y="3877056"/>
            <a:ext cx="1463040" cy="48646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Home Sales</a:t>
            </a:r>
            <a:endParaRPr b="0" i="0" sz="1050" u="none" cap="none" strike="noStrike">
              <a:solidFill>
                <a:schemeClr val="dk1"/>
              </a:solidFill>
              <a:latin typeface="Calibri"/>
              <a:ea typeface="Calibri"/>
              <a:cs typeface="Calibri"/>
              <a:sym typeface="Calibri"/>
            </a:endParaRPr>
          </a:p>
        </p:txBody>
      </p:sp>
      <p:sp>
        <p:nvSpPr>
          <p:cNvPr id="27" name="Google Shape;27;p3"/>
          <p:cNvSpPr/>
          <p:nvPr/>
        </p:nvSpPr>
        <p:spPr>
          <a:xfrm>
            <a:off x="5559552" y="3108960"/>
            <a:ext cx="1554480" cy="1280160"/>
          </a:xfrm>
          <a:prstGeom prst="rect">
            <a:avLst/>
          </a:prstGeom>
          <a:solidFill>
            <a:srgbClr val="141B47"/>
          </a:solidFill>
          <a:ln cap="flat" cmpd="sng" w="25400">
            <a:solidFill>
              <a:srgbClr val="CADCFC"/>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
          <p:cNvSpPr/>
          <p:nvPr/>
        </p:nvSpPr>
        <p:spPr>
          <a:xfrm>
            <a:off x="5605272" y="3182112"/>
            <a:ext cx="1463040" cy="69128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3000"/>
              <a:buFont typeface="Trebuchet MS"/>
              <a:buNone/>
            </a:pPr>
            <a:r>
              <a:rPr b="1" i="0" lang="en-US" sz="3000" u="none" cap="none" strike="noStrike">
                <a:solidFill>
                  <a:srgbClr val="F0C040"/>
                </a:solidFill>
                <a:latin typeface="Trebuchet MS"/>
                <a:ea typeface="Trebuchet MS"/>
                <a:cs typeface="Trebuchet MS"/>
                <a:sym typeface="Trebuchet MS"/>
              </a:rPr>
              <a:t>81</a:t>
            </a:r>
            <a:endParaRPr b="0" i="0" sz="3000" u="none" cap="none" strike="noStrike">
              <a:solidFill>
                <a:schemeClr val="dk1"/>
              </a:solidFill>
              <a:latin typeface="Calibri"/>
              <a:ea typeface="Calibri"/>
              <a:cs typeface="Calibri"/>
              <a:sym typeface="Calibri"/>
            </a:endParaRPr>
          </a:p>
        </p:txBody>
      </p:sp>
      <p:sp>
        <p:nvSpPr>
          <p:cNvPr id="29" name="Google Shape;29;p3"/>
          <p:cNvSpPr/>
          <p:nvPr/>
        </p:nvSpPr>
        <p:spPr>
          <a:xfrm>
            <a:off x="5605272" y="3877056"/>
            <a:ext cx="1463040" cy="48646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Features</a:t>
            </a:r>
            <a:endParaRPr b="0" i="0" sz="1050" u="none" cap="none" strike="noStrike">
              <a:solidFill>
                <a:schemeClr val="dk1"/>
              </a:solidFill>
              <a:latin typeface="Calibri"/>
              <a:ea typeface="Calibri"/>
              <a:cs typeface="Calibri"/>
              <a:sym typeface="Calibri"/>
            </a:endParaRPr>
          </a:p>
        </p:txBody>
      </p:sp>
      <p:sp>
        <p:nvSpPr>
          <p:cNvPr id="30" name="Google Shape;30;p3"/>
          <p:cNvSpPr/>
          <p:nvPr/>
        </p:nvSpPr>
        <p:spPr>
          <a:xfrm>
            <a:off x="7278624" y="3108960"/>
            <a:ext cx="1554480" cy="1280160"/>
          </a:xfrm>
          <a:prstGeom prst="rect">
            <a:avLst/>
          </a:prstGeom>
          <a:solidFill>
            <a:srgbClr val="141B47"/>
          </a:solidFill>
          <a:ln cap="flat" cmpd="sng" w="25400">
            <a:solidFill>
              <a:srgbClr val="CADCFC"/>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
          <p:cNvSpPr/>
          <p:nvPr/>
        </p:nvSpPr>
        <p:spPr>
          <a:xfrm>
            <a:off x="7324344" y="3182112"/>
            <a:ext cx="1463040" cy="69128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2400"/>
              <a:buFont typeface="Trebuchet MS"/>
              <a:buNone/>
            </a:pPr>
            <a:r>
              <a:rPr b="1" i="0" lang="en-US" sz="2400" u="none" cap="none" strike="noStrike">
                <a:solidFill>
                  <a:srgbClr val="F0C040"/>
                </a:solidFill>
                <a:latin typeface="Trebuchet MS"/>
                <a:ea typeface="Trebuchet MS"/>
                <a:cs typeface="Trebuchet MS"/>
                <a:sym typeface="Trebuchet MS"/>
              </a:rPr>
              <a:t>RMSPE</a:t>
            </a:r>
            <a:endParaRPr b="0" i="0" sz="2400" u="none" cap="none" strike="noStrike">
              <a:solidFill>
                <a:schemeClr val="dk1"/>
              </a:solidFill>
              <a:latin typeface="Calibri"/>
              <a:ea typeface="Calibri"/>
              <a:cs typeface="Calibri"/>
              <a:sym typeface="Calibri"/>
            </a:endParaRPr>
          </a:p>
        </p:txBody>
      </p:sp>
      <p:sp>
        <p:nvSpPr>
          <p:cNvPr id="32" name="Google Shape;32;p3"/>
          <p:cNvSpPr/>
          <p:nvPr/>
        </p:nvSpPr>
        <p:spPr>
          <a:xfrm>
            <a:off x="7324344" y="3877056"/>
            <a:ext cx="1463040" cy="48646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Performance Metric</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7" name="Shape 37"/>
        <p:cNvGrpSpPr/>
        <p:nvPr/>
      </p:nvGrpSpPr>
      <p:grpSpPr>
        <a:xfrm>
          <a:off x="0" y="0"/>
          <a:ext cx="0" cy="0"/>
          <a:chOff x="0" y="0"/>
          <a:chExt cx="0" cy="0"/>
        </a:xfrm>
      </p:grpSpPr>
      <p:sp>
        <p:nvSpPr>
          <p:cNvPr id="38" name="Google Shape;38;p4"/>
          <p:cNvSpPr/>
          <p:nvPr/>
        </p:nvSpPr>
        <p:spPr>
          <a:xfrm>
            <a:off x="0" y="0"/>
            <a:ext cx="9144000" cy="658368"/>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What We'll Cover</a:t>
            </a:r>
            <a:endParaRPr b="0" i="0" sz="2200" u="none" cap="none" strike="noStrike">
              <a:solidFill>
                <a:schemeClr val="dk1"/>
              </a:solidFill>
              <a:latin typeface="Calibri"/>
              <a:ea typeface="Calibri"/>
              <a:cs typeface="Calibri"/>
              <a:sym typeface="Calibri"/>
            </a:endParaRPr>
          </a:p>
        </p:txBody>
      </p:sp>
      <p:sp>
        <p:nvSpPr>
          <p:cNvPr id="40" name="Google Shape;40;p4"/>
          <p:cNvSpPr/>
          <p:nvPr/>
        </p:nvSpPr>
        <p:spPr>
          <a:xfrm>
            <a:off x="0" y="0"/>
            <a:ext cx="164592" cy="51435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
          <p:cNvSpPr/>
          <p:nvPr/>
        </p:nvSpPr>
        <p:spPr>
          <a:xfrm>
            <a:off x="0" y="4892040"/>
            <a:ext cx="9144000" cy="25146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
          <p:cNvSpPr/>
          <p:nvPr/>
        </p:nvSpPr>
        <p:spPr>
          <a:xfrm>
            <a:off x="274320" y="4892040"/>
            <a:ext cx="8595360" cy="2514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DFF0"/>
              </a:buClr>
              <a:buSzPts val="900"/>
              <a:buFont typeface="Calibri"/>
              <a:buNone/>
            </a:pPr>
            <a:r>
              <a:rPr b="0" i="0" lang="en-US" sz="900" u="none" cap="none" strike="noStrike">
                <a:solidFill>
                  <a:srgbClr val="D6DFF0"/>
                </a:solidFill>
                <a:latin typeface="Calibri"/>
                <a:ea typeface="Calibri"/>
                <a:cs typeface="Calibri"/>
                <a:sym typeface="Calibri"/>
              </a:rPr>
              <a:t>Abraham De Vargas  ·  Deep Dive Data Science Cohort-20  ·  04/04/2026  ·  Agenda</a:t>
            </a:r>
            <a:endParaRPr b="0" i="0" sz="900" u="none" cap="none" strike="noStrike">
              <a:solidFill>
                <a:schemeClr val="dk1"/>
              </a:solidFill>
              <a:latin typeface="Calibri"/>
              <a:ea typeface="Calibri"/>
              <a:cs typeface="Calibri"/>
              <a:sym typeface="Calibri"/>
            </a:endParaRPr>
          </a:p>
        </p:txBody>
      </p:sp>
      <p:sp>
        <p:nvSpPr>
          <p:cNvPr id="43" name="Google Shape;43;p4"/>
          <p:cNvSpPr/>
          <p:nvPr/>
        </p:nvSpPr>
        <p:spPr>
          <a:xfrm>
            <a:off x="347472" y="960120"/>
            <a:ext cx="1993392" cy="3291840"/>
          </a:xfrm>
          <a:prstGeom prst="rect">
            <a:avLst/>
          </a:prstGeom>
          <a:solidFill>
            <a:srgbClr val="141B47"/>
          </a:solidFill>
          <a:ln cap="flat" cmpd="sng" w="12700">
            <a:solidFill>
              <a:srgbClr val="CADCFC"/>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
          <p:cNvSpPr/>
          <p:nvPr/>
        </p:nvSpPr>
        <p:spPr>
          <a:xfrm>
            <a:off x="347472" y="960120"/>
            <a:ext cx="1993392" cy="475488"/>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
          <p:cNvSpPr/>
          <p:nvPr/>
        </p:nvSpPr>
        <p:spPr>
          <a:xfrm>
            <a:off x="347472" y="960120"/>
            <a:ext cx="1993392"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01</a:t>
            </a:r>
            <a:endParaRPr b="0" i="0" sz="2200" u="none" cap="none" strike="noStrike">
              <a:solidFill>
                <a:schemeClr val="dk1"/>
              </a:solidFill>
              <a:latin typeface="Calibri"/>
              <a:ea typeface="Calibri"/>
              <a:cs typeface="Calibri"/>
              <a:sym typeface="Calibri"/>
            </a:endParaRPr>
          </a:p>
        </p:txBody>
      </p:sp>
      <p:sp>
        <p:nvSpPr>
          <p:cNvPr id="46" name="Google Shape;46;p4"/>
          <p:cNvSpPr/>
          <p:nvPr/>
        </p:nvSpPr>
        <p:spPr>
          <a:xfrm>
            <a:off x="457200" y="1508760"/>
            <a:ext cx="1773936"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0C040"/>
              </a:buClr>
              <a:buSzPts val="1500"/>
              <a:buFont typeface="Trebuchet MS"/>
              <a:buNone/>
            </a:pPr>
            <a:r>
              <a:rPr b="1" i="0" lang="en-US" sz="1500" u="none" cap="none" strike="noStrike">
                <a:solidFill>
                  <a:srgbClr val="F0C040"/>
                </a:solidFill>
                <a:latin typeface="Trebuchet MS"/>
                <a:ea typeface="Trebuchet MS"/>
                <a:cs typeface="Trebuchet MS"/>
                <a:sym typeface="Trebuchet MS"/>
              </a:rPr>
              <a:t>The Problem</a:t>
            </a:r>
            <a:endParaRPr b="0" i="0" sz="1500" u="none" cap="none" strike="noStrike">
              <a:solidFill>
                <a:schemeClr val="dk1"/>
              </a:solidFill>
              <a:latin typeface="Calibri"/>
              <a:ea typeface="Calibri"/>
              <a:cs typeface="Calibri"/>
              <a:sym typeface="Calibri"/>
            </a:endParaRPr>
          </a:p>
        </p:txBody>
      </p:sp>
      <p:sp>
        <p:nvSpPr>
          <p:cNvPr id="47" name="Google Shape;47;p4"/>
          <p:cNvSpPr/>
          <p:nvPr/>
        </p:nvSpPr>
        <p:spPr>
          <a:xfrm>
            <a:off x="457200" y="2194560"/>
            <a:ext cx="1773936"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Predict home sale prices in Ames, Iowa</a:t>
            </a:r>
            <a:endParaRPr b="0" i="0" sz="1200" u="none" cap="none" strike="noStrike">
              <a:solidFill>
                <a:schemeClr val="dk1"/>
              </a:solidFill>
              <a:latin typeface="Calibri"/>
              <a:ea typeface="Calibri"/>
              <a:cs typeface="Calibri"/>
              <a:sym typeface="Calibri"/>
            </a:endParaRPr>
          </a:p>
        </p:txBody>
      </p:sp>
      <p:sp>
        <p:nvSpPr>
          <p:cNvPr id="48" name="Google Shape;48;p4"/>
          <p:cNvSpPr/>
          <p:nvPr/>
        </p:nvSpPr>
        <p:spPr>
          <a:xfrm>
            <a:off x="2523744" y="960120"/>
            <a:ext cx="1993392" cy="3291840"/>
          </a:xfrm>
          <a:prstGeom prst="rect">
            <a:avLst/>
          </a:prstGeom>
          <a:solidFill>
            <a:srgbClr val="141B47"/>
          </a:solidFill>
          <a:ln cap="flat" cmpd="sng" w="12700">
            <a:solidFill>
              <a:srgbClr val="CADCFC"/>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a:off x="2523744" y="960120"/>
            <a:ext cx="1993392" cy="475488"/>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
          <p:cNvSpPr/>
          <p:nvPr/>
        </p:nvSpPr>
        <p:spPr>
          <a:xfrm>
            <a:off x="2523744" y="960120"/>
            <a:ext cx="1993392"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02</a:t>
            </a:r>
            <a:endParaRPr b="0" i="0" sz="2200" u="none" cap="none" strike="noStrike">
              <a:solidFill>
                <a:schemeClr val="dk1"/>
              </a:solidFill>
              <a:latin typeface="Calibri"/>
              <a:ea typeface="Calibri"/>
              <a:cs typeface="Calibri"/>
              <a:sym typeface="Calibri"/>
            </a:endParaRPr>
          </a:p>
        </p:txBody>
      </p:sp>
      <p:sp>
        <p:nvSpPr>
          <p:cNvPr id="51" name="Google Shape;51;p4"/>
          <p:cNvSpPr/>
          <p:nvPr/>
        </p:nvSpPr>
        <p:spPr>
          <a:xfrm>
            <a:off x="2633472" y="1508760"/>
            <a:ext cx="1773936"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0C040"/>
              </a:buClr>
              <a:buSzPts val="1500"/>
              <a:buFont typeface="Trebuchet MS"/>
              <a:buNone/>
            </a:pPr>
            <a:r>
              <a:rPr b="1" i="0" lang="en-US" sz="1500" u="none" cap="none" strike="noStrike">
                <a:solidFill>
                  <a:srgbClr val="F0C040"/>
                </a:solidFill>
                <a:latin typeface="Trebuchet MS"/>
                <a:ea typeface="Trebuchet MS"/>
                <a:cs typeface="Trebuchet MS"/>
                <a:sym typeface="Trebuchet MS"/>
              </a:rPr>
              <a:t>The Data</a:t>
            </a:r>
            <a:endParaRPr b="0" i="0" sz="1500" u="none" cap="none" strike="noStrike">
              <a:solidFill>
                <a:schemeClr val="dk1"/>
              </a:solidFill>
              <a:latin typeface="Calibri"/>
              <a:ea typeface="Calibri"/>
              <a:cs typeface="Calibri"/>
              <a:sym typeface="Calibri"/>
            </a:endParaRPr>
          </a:p>
        </p:txBody>
      </p:sp>
      <p:sp>
        <p:nvSpPr>
          <p:cNvPr id="52" name="Google Shape;52;p4"/>
          <p:cNvSpPr/>
          <p:nvPr/>
        </p:nvSpPr>
        <p:spPr>
          <a:xfrm>
            <a:off x="2633472" y="2194560"/>
            <a:ext cx="1773936"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2,637 homes · 81 features · AWS S3</a:t>
            </a:r>
            <a:endParaRPr b="0" i="0" sz="1200" u="none" cap="none" strike="noStrike">
              <a:solidFill>
                <a:schemeClr val="dk1"/>
              </a:solidFill>
              <a:latin typeface="Calibri"/>
              <a:ea typeface="Calibri"/>
              <a:cs typeface="Calibri"/>
              <a:sym typeface="Calibri"/>
            </a:endParaRPr>
          </a:p>
        </p:txBody>
      </p:sp>
      <p:sp>
        <p:nvSpPr>
          <p:cNvPr id="53" name="Google Shape;53;p4"/>
          <p:cNvSpPr/>
          <p:nvPr/>
        </p:nvSpPr>
        <p:spPr>
          <a:xfrm>
            <a:off x="4700016" y="960120"/>
            <a:ext cx="1993392" cy="3291840"/>
          </a:xfrm>
          <a:prstGeom prst="rect">
            <a:avLst/>
          </a:prstGeom>
          <a:solidFill>
            <a:srgbClr val="141B47"/>
          </a:solidFill>
          <a:ln cap="flat" cmpd="sng" w="12700">
            <a:solidFill>
              <a:srgbClr val="CADCFC"/>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4"/>
          <p:cNvSpPr/>
          <p:nvPr/>
        </p:nvSpPr>
        <p:spPr>
          <a:xfrm>
            <a:off x="4700016" y="960120"/>
            <a:ext cx="1993392" cy="475488"/>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
          <p:cNvSpPr/>
          <p:nvPr/>
        </p:nvSpPr>
        <p:spPr>
          <a:xfrm>
            <a:off x="4700016" y="960120"/>
            <a:ext cx="1993392"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03</a:t>
            </a:r>
            <a:endParaRPr b="0" i="0" sz="2200" u="none" cap="none" strike="noStrike">
              <a:solidFill>
                <a:schemeClr val="dk1"/>
              </a:solidFill>
              <a:latin typeface="Calibri"/>
              <a:ea typeface="Calibri"/>
              <a:cs typeface="Calibri"/>
              <a:sym typeface="Calibri"/>
            </a:endParaRPr>
          </a:p>
        </p:txBody>
      </p:sp>
      <p:sp>
        <p:nvSpPr>
          <p:cNvPr id="56" name="Google Shape;56;p4"/>
          <p:cNvSpPr/>
          <p:nvPr/>
        </p:nvSpPr>
        <p:spPr>
          <a:xfrm>
            <a:off x="4809744" y="1508760"/>
            <a:ext cx="1773936"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0C040"/>
              </a:buClr>
              <a:buSzPts val="1500"/>
              <a:buFont typeface="Trebuchet MS"/>
              <a:buNone/>
            </a:pPr>
            <a:r>
              <a:rPr b="1" i="0" lang="en-US" sz="1500" u="none" cap="none" strike="noStrike">
                <a:solidFill>
                  <a:srgbClr val="F0C040"/>
                </a:solidFill>
                <a:latin typeface="Trebuchet MS"/>
                <a:ea typeface="Trebuchet MS"/>
                <a:cs typeface="Trebuchet MS"/>
                <a:sym typeface="Trebuchet MS"/>
              </a:rPr>
              <a:t>Models &amp; Results</a:t>
            </a:r>
            <a:endParaRPr b="0" i="0" sz="1500" u="none" cap="none" strike="noStrike">
              <a:solidFill>
                <a:schemeClr val="dk1"/>
              </a:solidFill>
              <a:latin typeface="Calibri"/>
              <a:ea typeface="Calibri"/>
              <a:cs typeface="Calibri"/>
              <a:sym typeface="Calibri"/>
            </a:endParaRPr>
          </a:p>
        </p:txBody>
      </p:sp>
      <p:sp>
        <p:nvSpPr>
          <p:cNvPr id="57" name="Google Shape;57;p4"/>
          <p:cNvSpPr/>
          <p:nvPr/>
        </p:nvSpPr>
        <p:spPr>
          <a:xfrm>
            <a:off x="4809744" y="2194560"/>
            <a:ext cx="1773936"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Ridge, Lasso &amp; Lean Ridge · RMSPE metric</a:t>
            </a:r>
            <a:endParaRPr b="0" i="0" sz="1200" u="none" cap="none" strike="noStrike">
              <a:solidFill>
                <a:schemeClr val="dk1"/>
              </a:solidFill>
              <a:latin typeface="Calibri"/>
              <a:ea typeface="Calibri"/>
              <a:cs typeface="Calibri"/>
              <a:sym typeface="Calibri"/>
            </a:endParaRPr>
          </a:p>
        </p:txBody>
      </p:sp>
      <p:sp>
        <p:nvSpPr>
          <p:cNvPr id="58" name="Google Shape;58;p4"/>
          <p:cNvSpPr/>
          <p:nvPr/>
        </p:nvSpPr>
        <p:spPr>
          <a:xfrm>
            <a:off x="6876288" y="960120"/>
            <a:ext cx="1993392" cy="3291840"/>
          </a:xfrm>
          <a:prstGeom prst="rect">
            <a:avLst/>
          </a:prstGeom>
          <a:solidFill>
            <a:srgbClr val="141B47"/>
          </a:solidFill>
          <a:ln cap="flat" cmpd="sng" w="12700">
            <a:solidFill>
              <a:srgbClr val="CADCFC"/>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
          <p:cNvSpPr/>
          <p:nvPr/>
        </p:nvSpPr>
        <p:spPr>
          <a:xfrm>
            <a:off x="6876288" y="960120"/>
            <a:ext cx="1993392" cy="475488"/>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
          <p:cNvSpPr/>
          <p:nvPr/>
        </p:nvSpPr>
        <p:spPr>
          <a:xfrm>
            <a:off x="6876288" y="960120"/>
            <a:ext cx="1993392"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04</a:t>
            </a:r>
            <a:endParaRPr b="0" i="0" sz="2200" u="none" cap="none" strike="noStrike">
              <a:solidFill>
                <a:schemeClr val="dk1"/>
              </a:solidFill>
              <a:latin typeface="Calibri"/>
              <a:ea typeface="Calibri"/>
              <a:cs typeface="Calibri"/>
              <a:sym typeface="Calibri"/>
            </a:endParaRPr>
          </a:p>
        </p:txBody>
      </p:sp>
      <p:sp>
        <p:nvSpPr>
          <p:cNvPr id="61" name="Google Shape;61;p4"/>
          <p:cNvSpPr/>
          <p:nvPr/>
        </p:nvSpPr>
        <p:spPr>
          <a:xfrm>
            <a:off x="6986016" y="1508760"/>
            <a:ext cx="1773936"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0C040"/>
              </a:buClr>
              <a:buSzPts val="1500"/>
              <a:buFont typeface="Trebuchet MS"/>
              <a:buNone/>
            </a:pPr>
            <a:r>
              <a:rPr b="1" i="0" lang="en-US" sz="1500" u="none" cap="none" strike="noStrike">
                <a:solidFill>
                  <a:srgbClr val="F0C040"/>
                </a:solidFill>
                <a:latin typeface="Trebuchet MS"/>
                <a:ea typeface="Trebuchet MS"/>
                <a:cs typeface="Trebuchet MS"/>
                <a:sym typeface="Trebuchet MS"/>
              </a:rPr>
              <a:t>Key Takeaway</a:t>
            </a:r>
            <a:endParaRPr b="0" i="0" sz="1500" u="none" cap="none" strike="noStrike">
              <a:solidFill>
                <a:schemeClr val="dk1"/>
              </a:solidFill>
              <a:latin typeface="Calibri"/>
              <a:ea typeface="Calibri"/>
              <a:cs typeface="Calibri"/>
              <a:sym typeface="Calibri"/>
            </a:endParaRPr>
          </a:p>
        </p:txBody>
      </p:sp>
      <p:sp>
        <p:nvSpPr>
          <p:cNvPr id="62" name="Google Shape;62;p4"/>
          <p:cNvSpPr/>
          <p:nvPr/>
        </p:nvSpPr>
        <p:spPr>
          <a:xfrm>
            <a:off x="6986016" y="2194560"/>
            <a:ext cx="1773936"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Fewer features → better performance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67" name="Shape 67"/>
        <p:cNvGrpSpPr/>
        <p:nvPr/>
      </p:nvGrpSpPr>
      <p:grpSpPr>
        <a:xfrm>
          <a:off x="0" y="0"/>
          <a:ext cx="0" cy="0"/>
          <a:chOff x="0" y="0"/>
          <a:chExt cx="0" cy="0"/>
        </a:xfrm>
      </p:grpSpPr>
      <p:sp>
        <p:nvSpPr>
          <p:cNvPr id="68" name="Google Shape;68;p5"/>
          <p:cNvSpPr/>
          <p:nvPr/>
        </p:nvSpPr>
        <p:spPr>
          <a:xfrm>
            <a:off x="0" y="0"/>
            <a:ext cx="9144000" cy="658368"/>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5"/>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The Problem</a:t>
            </a:r>
            <a:endParaRPr b="0" i="0" sz="2200" u="none" cap="none" strike="noStrike">
              <a:solidFill>
                <a:schemeClr val="dk1"/>
              </a:solidFill>
              <a:latin typeface="Calibri"/>
              <a:ea typeface="Calibri"/>
              <a:cs typeface="Calibri"/>
              <a:sym typeface="Calibri"/>
            </a:endParaRPr>
          </a:p>
        </p:txBody>
      </p:sp>
      <p:sp>
        <p:nvSpPr>
          <p:cNvPr id="70" name="Google Shape;70;p5"/>
          <p:cNvSpPr/>
          <p:nvPr/>
        </p:nvSpPr>
        <p:spPr>
          <a:xfrm>
            <a:off x="0" y="0"/>
            <a:ext cx="164592" cy="51435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5"/>
          <p:cNvSpPr/>
          <p:nvPr/>
        </p:nvSpPr>
        <p:spPr>
          <a:xfrm>
            <a:off x="0" y="4892040"/>
            <a:ext cx="9144000" cy="25146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74320" y="4892040"/>
            <a:ext cx="8595360" cy="2514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DFF0"/>
              </a:buClr>
              <a:buSzPts val="900"/>
              <a:buFont typeface="Calibri"/>
              <a:buNone/>
            </a:pPr>
            <a:r>
              <a:rPr b="0" i="0" lang="en-US" sz="900" u="none" cap="none" strike="noStrike">
                <a:solidFill>
                  <a:srgbClr val="D6DFF0"/>
                </a:solidFill>
                <a:latin typeface="Calibri"/>
                <a:ea typeface="Calibri"/>
                <a:cs typeface="Calibri"/>
                <a:sym typeface="Calibri"/>
              </a:rPr>
              <a:t>Abraham De Vargas  ·  Deep Dive Data Science Cohort-20  ·  04/04/2026  ·  Problem Definition</a:t>
            </a:r>
            <a:endParaRPr b="0" i="0" sz="900" u="none" cap="none" strike="noStrike">
              <a:solidFill>
                <a:schemeClr val="dk1"/>
              </a:solidFill>
              <a:latin typeface="Calibri"/>
              <a:ea typeface="Calibri"/>
              <a:cs typeface="Calibri"/>
              <a:sym typeface="Calibri"/>
            </a:endParaRPr>
          </a:p>
        </p:txBody>
      </p:sp>
      <p:sp>
        <p:nvSpPr>
          <p:cNvPr id="73" name="Google Shape;73;p5"/>
          <p:cNvSpPr/>
          <p:nvPr/>
        </p:nvSpPr>
        <p:spPr>
          <a:xfrm>
            <a:off x="347472" y="749808"/>
            <a:ext cx="5303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700"/>
              <a:buFont typeface="Trebuchet MS"/>
              <a:buNone/>
            </a:pPr>
            <a:r>
              <a:rPr b="1" i="1" lang="en-US" sz="1700" u="none" cap="none" strike="noStrike">
                <a:solidFill>
                  <a:srgbClr val="1E2761"/>
                </a:solidFill>
                <a:latin typeface="Trebuchet MS"/>
                <a:ea typeface="Trebuchet MS"/>
                <a:cs typeface="Trebuchet MS"/>
                <a:sym typeface="Trebuchet MS"/>
              </a:rPr>
              <a:t>What will this house sell for?</a:t>
            </a:r>
            <a:endParaRPr b="0" i="0" sz="1700" u="none" cap="none" strike="noStrike">
              <a:solidFill>
                <a:schemeClr val="dk1"/>
              </a:solidFill>
              <a:latin typeface="Calibri"/>
              <a:ea typeface="Calibri"/>
              <a:cs typeface="Calibri"/>
              <a:sym typeface="Calibri"/>
            </a:endParaRPr>
          </a:p>
        </p:txBody>
      </p:sp>
      <p:sp>
        <p:nvSpPr>
          <p:cNvPr id="74" name="Google Shape;74;p5"/>
          <p:cNvSpPr/>
          <p:nvPr/>
        </p:nvSpPr>
        <p:spPr>
          <a:xfrm>
            <a:off x="347472" y="1325880"/>
            <a:ext cx="54864" cy="256032"/>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5"/>
          <p:cNvSpPr/>
          <p:nvPr/>
        </p:nvSpPr>
        <p:spPr>
          <a:xfrm>
            <a:off x="512064" y="1261872"/>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Supervised Regression Problem  </a:t>
            </a:r>
            <a:endParaRPr b="0" i="0" sz="1300" u="none" cap="none" strike="noStrike">
              <a:solidFill>
                <a:schemeClr val="dk1"/>
              </a:solidFill>
              <a:latin typeface="Calibri"/>
              <a:ea typeface="Calibri"/>
              <a:cs typeface="Calibri"/>
              <a:sym typeface="Calibri"/>
            </a:endParaRPr>
          </a:p>
        </p:txBody>
      </p:sp>
      <p:sp>
        <p:nvSpPr>
          <p:cNvPr id="76" name="Google Shape;76;p5"/>
          <p:cNvSpPr/>
          <p:nvPr/>
        </p:nvSpPr>
        <p:spPr>
          <a:xfrm>
            <a:off x="512064" y="1536192"/>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B47"/>
              </a:buClr>
              <a:buSzPts val="1200"/>
              <a:buFont typeface="Calibri"/>
              <a:buNone/>
            </a:pPr>
            <a:r>
              <a:rPr b="0" i="0" lang="en-US" sz="1200" u="none" cap="none" strike="noStrike">
                <a:solidFill>
                  <a:srgbClr val="141B47"/>
                </a:solidFill>
                <a:latin typeface="Calibri"/>
                <a:ea typeface="Calibri"/>
                <a:cs typeface="Calibri"/>
                <a:sym typeface="Calibri"/>
              </a:rPr>
              <a:t>Predict a continuous dollar value — not a category</a:t>
            </a:r>
            <a:endParaRPr b="0" i="0" sz="1200" u="none" cap="none" strike="noStrike">
              <a:solidFill>
                <a:schemeClr val="dk1"/>
              </a:solidFill>
              <a:latin typeface="Calibri"/>
              <a:ea typeface="Calibri"/>
              <a:cs typeface="Calibri"/>
              <a:sym typeface="Calibri"/>
            </a:endParaRPr>
          </a:p>
        </p:txBody>
      </p:sp>
      <p:sp>
        <p:nvSpPr>
          <p:cNvPr id="77" name="Google Shape;77;p5"/>
          <p:cNvSpPr/>
          <p:nvPr/>
        </p:nvSpPr>
        <p:spPr>
          <a:xfrm>
            <a:off x="347472" y="1984248"/>
            <a:ext cx="54864" cy="256032"/>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5"/>
          <p:cNvSpPr/>
          <p:nvPr/>
        </p:nvSpPr>
        <p:spPr>
          <a:xfrm>
            <a:off x="512064" y="1920240"/>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Target: SalePrice  </a:t>
            </a:r>
            <a:endParaRPr b="0" i="0" sz="1300" u="none" cap="none" strike="noStrike">
              <a:solidFill>
                <a:schemeClr val="dk1"/>
              </a:solidFill>
              <a:latin typeface="Calibri"/>
              <a:ea typeface="Calibri"/>
              <a:cs typeface="Calibri"/>
              <a:sym typeface="Calibri"/>
            </a:endParaRPr>
          </a:p>
        </p:txBody>
      </p:sp>
      <p:sp>
        <p:nvSpPr>
          <p:cNvPr id="79" name="Google Shape;79;p5"/>
          <p:cNvSpPr/>
          <p:nvPr/>
        </p:nvSpPr>
        <p:spPr>
          <a:xfrm>
            <a:off x="512064" y="2194560"/>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B47"/>
              </a:buClr>
              <a:buSzPts val="1200"/>
              <a:buFont typeface="Calibri"/>
              <a:buNone/>
            </a:pPr>
            <a:r>
              <a:rPr b="0" i="0" lang="en-US" sz="1200" u="none" cap="none" strike="noStrike">
                <a:solidFill>
                  <a:srgbClr val="141B47"/>
                </a:solidFill>
                <a:latin typeface="Calibri"/>
                <a:ea typeface="Calibri"/>
                <a:cs typeface="Calibri"/>
                <a:sym typeface="Calibri"/>
              </a:rPr>
              <a:t>Continuous numeric value — the known outcome label</a:t>
            </a:r>
            <a:endParaRPr b="0" i="0" sz="1200" u="none" cap="none" strike="noStrike">
              <a:solidFill>
                <a:schemeClr val="dk1"/>
              </a:solidFill>
              <a:latin typeface="Calibri"/>
              <a:ea typeface="Calibri"/>
              <a:cs typeface="Calibri"/>
              <a:sym typeface="Calibri"/>
            </a:endParaRPr>
          </a:p>
        </p:txBody>
      </p:sp>
      <p:sp>
        <p:nvSpPr>
          <p:cNvPr id="80" name="Google Shape;80;p5"/>
          <p:cNvSpPr/>
          <p:nvPr/>
        </p:nvSpPr>
        <p:spPr>
          <a:xfrm>
            <a:off x="347472" y="2642616"/>
            <a:ext cx="54864" cy="256032"/>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5"/>
          <p:cNvSpPr/>
          <p:nvPr/>
        </p:nvSpPr>
        <p:spPr>
          <a:xfrm>
            <a:off x="512064" y="2578608"/>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Metric: RMSPE  </a:t>
            </a:r>
            <a:endParaRPr b="0" i="0" sz="1300" u="none" cap="none" strike="noStrike">
              <a:solidFill>
                <a:schemeClr val="dk1"/>
              </a:solidFill>
              <a:latin typeface="Calibri"/>
              <a:ea typeface="Calibri"/>
              <a:cs typeface="Calibri"/>
              <a:sym typeface="Calibri"/>
            </a:endParaRPr>
          </a:p>
        </p:txBody>
      </p:sp>
      <p:sp>
        <p:nvSpPr>
          <p:cNvPr id="82" name="Google Shape;82;p5"/>
          <p:cNvSpPr/>
          <p:nvPr/>
        </p:nvSpPr>
        <p:spPr>
          <a:xfrm>
            <a:off x="512064" y="2852928"/>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B47"/>
              </a:buClr>
              <a:buSzPts val="1200"/>
              <a:buFont typeface="Calibri"/>
              <a:buNone/>
            </a:pPr>
            <a:r>
              <a:rPr b="0" i="0" lang="en-US" sz="1200" u="none" cap="none" strike="noStrike">
                <a:solidFill>
                  <a:srgbClr val="141B47"/>
                </a:solidFill>
                <a:latin typeface="Calibri"/>
                <a:ea typeface="Calibri"/>
                <a:cs typeface="Calibri"/>
                <a:sym typeface="Calibri"/>
              </a:rPr>
              <a:t>$20k error on a $100k home (20%) ≠ $20k on a $500k home (4%)</a:t>
            </a:r>
            <a:endParaRPr b="0" i="0" sz="1200" u="none" cap="none" strike="noStrike">
              <a:solidFill>
                <a:schemeClr val="dk1"/>
              </a:solidFill>
              <a:latin typeface="Calibri"/>
              <a:ea typeface="Calibri"/>
              <a:cs typeface="Calibri"/>
              <a:sym typeface="Calibri"/>
            </a:endParaRPr>
          </a:p>
        </p:txBody>
      </p:sp>
      <p:sp>
        <p:nvSpPr>
          <p:cNvPr id="83" name="Google Shape;83;p5"/>
          <p:cNvSpPr/>
          <p:nvPr/>
        </p:nvSpPr>
        <p:spPr>
          <a:xfrm>
            <a:off x="347472" y="3300984"/>
            <a:ext cx="54864" cy="256032"/>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5"/>
          <p:cNvSpPr/>
          <p:nvPr/>
        </p:nvSpPr>
        <p:spPr>
          <a:xfrm>
            <a:off x="512064" y="3236976"/>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~80 Features  </a:t>
            </a:r>
            <a:endParaRPr b="0" i="0" sz="1300" u="none" cap="none" strike="noStrike">
              <a:solidFill>
                <a:schemeClr val="dk1"/>
              </a:solidFill>
              <a:latin typeface="Calibri"/>
              <a:ea typeface="Calibri"/>
              <a:cs typeface="Calibri"/>
              <a:sym typeface="Calibri"/>
            </a:endParaRPr>
          </a:p>
        </p:txBody>
      </p:sp>
      <p:sp>
        <p:nvSpPr>
          <p:cNvPr id="85" name="Google Shape;85;p5"/>
          <p:cNvSpPr/>
          <p:nvPr/>
        </p:nvSpPr>
        <p:spPr>
          <a:xfrm>
            <a:off x="512064" y="3511296"/>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B47"/>
              </a:buClr>
              <a:buSzPts val="1200"/>
              <a:buFont typeface="Calibri"/>
              <a:buNone/>
            </a:pPr>
            <a:r>
              <a:rPr b="0" i="0" lang="en-US" sz="1200" u="none" cap="none" strike="noStrike">
                <a:solidFill>
                  <a:srgbClr val="141B47"/>
                </a:solidFill>
                <a:latin typeface="Calibri"/>
                <a:ea typeface="Calibri"/>
                <a:cs typeface="Calibri"/>
                <a:sym typeface="Calibri"/>
              </a:rPr>
              <a:t>Size, quality, age, neighborhood, garage, basement, and more</a:t>
            </a:r>
            <a:endParaRPr b="0" i="0" sz="1200" u="none" cap="none" strike="noStrike">
              <a:solidFill>
                <a:schemeClr val="dk1"/>
              </a:solidFill>
              <a:latin typeface="Calibri"/>
              <a:ea typeface="Calibri"/>
              <a:cs typeface="Calibri"/>
              <a:sym typeface="Calibri"/>
            </a:endParaRPr>
          </a:p>
        </p:txBody>
      </p:sp>
      <p:sp>
        <p:nvSpPr>
          <p:cNvPr id="86" name="Google Shape;86;p5"/>
          <p:cNvSpPr/>
          <p:nvPr/>
        </p:nvSpPr>
        <p:spPr>
          <a:xfrm>
            <a:off x="347472" y="3959352"/>
            <a:ext cx="54864" cy="256032"/>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5"/>
          <p:cNvSpPr/>
          <p:nvPr/>
        </p:nvSpPr>
        <p:spPr>
          <a:xfrm>
            <a:off x="512064" y="3895344"/>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Models Used  </a:t>
            </a:r>
            <a:endParaRPr b="0" i="0" sz="1300" u="none" cap="none" strike="noStrike">
              <a:solidFill>
                <a:schemeClr val="dk1"/>
              </a:solidFill>
              <a:latin typeface="Calibri"/>
              <a:ea typeface="Calibri"/>
              <a:cs typeface="Calibri"/>
              <a:sym typeface="Calibri"/>
            </a:endParaRPr>
          </a:p>
        </p:txBody>
      </p:sp>
      <p:sp>
        <p:nvSpPr>
          <p:cNvPr id="88" name="Google Shape;88;p5"/>
          <p:cNvSpPr/>
          <p:nvPr/>
        </p:nvSpPr>
        <p:spPr>
          <a:xfrm>
            <a:off x="512064" y="4169664"/>
            <a:ext cx="49377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B47"/>
              </a:buClr>
              <a:buSzPts val="1200"/>
              <a:buFont typeface="Calibri"/>
              <a:buNone/>
            </a:pPr>
            <a:r>
              <a:rPr b="0" i="0" lang="en-US" sz="1200" u="none" cap="none" strike="noStrike">
                <a:solidFill>
                  <a:srgbClr val="141B47"/>
                </a:solidFill>
                <a:latin typeface="Calibri"/>
                <a:ea typeface="Calibri"/>
                <a:cs typeface="Calibri"/>
                <a:sym typeface="Calibri"/>
              </a:rPr>
              <a:t>Linear Regression, Ridge (L2), Lasso (L1), Lean Ridge</a:t>
            </a:r>
            <a:endParaRPr b="0" i="0" sz="1200" u="none" cap="none" strike="noStrike">
              <a:solidFill>
                <a:schemeClr val="dk1"/>
              </a:solidFill>
              <a:latin typeface="Calibri"/>
              <a:ea typeface="Calibri"/>
              <a:cs typeface="Calibri"/>
              <a:sym typeface="Calibri"/>
            </a:endParaRPr>
          </a:p>
        </p:txBody>
      </p:sp>
      <p:sp>
        <p:nvSpPr>
          <p:cNvPr id="89" name="Google Shape;89;p5"/>
          <p:cNvSpPr/>
          <p:nvPr/>
        </p:nvSpPr>
        <p:spPr>
          <a:xfrm>
            <a:off x="6080760" y="804672"/>
            <a:ext cx="1417320" cy="1234440"/>
          </a:xfrm>
          <a:prstGeom prst="rect">
            <a:avLst/>
          </a:prstGeom>
          <a:solidFill>
            <a:srgbClr val="141B47"/>
          </a:solidFill>
          <a:ln cap="flat" cmpd="sng" w="25400">
            <a:solidFill>
              <a:srgbClr val="F0C04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5"/>
          <p:cNvSpPr/>
          <p:nvPr/>
        </p:nvSpPr>
        <p:spPr>
          <a:xfrm>
            <a:off x="6126480" y="877824"/>
            <a:ext cx="1325880" cy="6665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2400"/>
              <a:buFont typeface="Trebuchet MS"/>
              <a:buNone/>
            </a:pPr>
            <a:r>
              <a:rPr b="1" i="0" lang="en-US" sz="2400" u="none" cap="none" strike="noStrike">
                <a:solidFill>
                  <a:srgbClr val="F0C040"/>
                </a:solidFill>
                <a:latin typeface="Trebuchet MS"/>
                <a:ea typeface="Trebuchet MS"/>
                <a:cs typeface="Trebuchet MS"/>
                <a:sym typeface="Trebuchet MS"/>
              </a:rPr>
              <a:t>2,637</a:t>
            </a:r>
            <a:endParaRPr b="0" i="0" sz="2400" u="none" cap="none" strike="noStrike">
              <a:solidFill>
                <a:schemeClr val="dk1"/>
              </a:solidFill>
              <a:latin typeface="Calibri"/>
              <a:ea typeface="Calibri"/>
              <a:cs typeface="Calibri"/>
              <a:sym typeface="Calibri"/>
            </a:endParaRPr>
          </a:p>
        </p:txBody>
      </p:sp>
      <p:sp>
        <p:nvSpPr>
          <p:cNvPr id="91" name="Google Shape;91;p5"/>
          <p:cNvSpPr/>
          <p:nvPr/>
        </p:nvSpPr>
        <p:spPr>
          <a:xfrm>
            <a:off x="6126480" y="1545336"/>
            <a:ext cx="1325880" cy="4690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home sales</a:t>
            </a:r>
            <a:endParaRPr b="0" i="0" sz="1050" u="none" cap="none" strike="noStrike">
              <a:solidFill>
                <a:schemeClr val="dk1"/>
              </a:solidFill>
              <a:latin typeface="Calibri"/>
              <a:ea typeface="Calibri"/>
              <a:cs typeface="Calibri"/>
              <a:sym typeface="Calibri"/>
            </a:endParaRPr>
          </a:p>
        </p:txBody>
      </p:sp>
      <p:sp>
        <p:nvSpPr>
          <p:cNvPr id="92" name="Google Shape;92;p5"/>
          <p:cNvSpPr/>
          <p:nvPr/>
        </p:nvSpPr>
        <p:spPr>
          <a:xfrm>
            <a:off x="6080760" y="2176272"/>
            <a:ext cx="1417320" cy="1234440"/>
          </a:xfrm>
          <a:prstGeom prst="rect">
            <a:avLst/>
          </a:prstGeom>
          <a:solidFill>
            <a:srgbClr val="141B47"/>
          </a:solidFill>
          <a:ln cap="flat" cmpd="sng" w="25400">
            <a:solidFill>
              <a:srgbClr val="CADCFC"/>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5"/>
          <p:cNvSpPr/>
          <p:nvPr/>
        </p:nvSpPr>
        <p:spPr>
          <a:xfrm>
            <a:off x="6126480" y="2249424"/>
            <a:ext cx="1325880" cy="6665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3000"/>
              <a:buFont typeface="Trebuchet MS"/>
              <a:buNone/>
            </a:pPr>
            <a:r>
              <a:rPr b="1" i="0" lang="en-US" sz="3000" u="none" cap="none" strike="noStrike">
                <a:solidFill>
                  <a:srgbClr val="CADCFC"/>
                </a:solidFill>
                <a:latin typeface="Trebuchet MS"/>
                <a:ea typeface="Trebuchet MS"/>
                <a:cs typeface="Trebuchet MS"/>
                <a:sym typeface="Trebuchet MS"/>
              </a:rPr>
              <a:t>81</a:t>
            </a:r>
            <a:endParaRPr b="0" i="0" sz="3000" u="none" cap="none" strike="noStrike">
              <a:solidFill>
                <a:schemeClr val="dk1"/>
              </a:solidFill>
              <a:latin typeface="Calibri"/>
              <a:ea typeface="Calibri"/>
              <a:cs typeface="Calibri"/>
              <a:sym typeface="Calibri"/>
            </a:endParaRPr>
          </a:p>
        </p:txBody>
      </p:sp>
      <p:sp>
        <p:nvSpPr>
          <p:cNvPr id="94" name="Google Shape;94;p5"/>
          <p:cNvSpPr/>
          <p:nvPr/>
        </p:nvSpPr>
        <p:spPr>
          <a:xfrm>
            <a:off x="6126480" y="2916936"/>
            <a:ext cx="1325880" cy="4690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features</a:t>
            </a:r>
            <a:endParaRPr b="0" i="0" sz="1050" u="none" cap="none" strike="noStrike">
              <a:solidFill>
                <a:schemeClr val="dk1"/>
              </a:solidFill>
              <a:latin typeface="Calibri"/>
              <a:ea typeface="Calibri"/>
              <a:cs typeface="Calibri"/>
              <a:sym typeface="Calibri"/>
            </a:endParaRPr>
          </a:p>
        </p:txBody>
      </p:sp>
      <p:sp>
        <p:nvSpPr>
          <p:cNvPr id="95" name="Google Shape;95;p5"/>
          <p:cNvSpPr/>
          <p:nvPr/>
        </p:nvSpPr>
        <p:spPr>
          <a:xfrm>
            <a:off x="6080760" y="3547872"/>
            <a:ext cx="1417320" cy="1234440"/>
          </a:xfrm>
          <a:prstGeom prst="rect">
            <a:avLst/>
          </a:prstGeom>
          <a:solidFill>
            <a:srgbClr val="141B47"/>
          </a:solidFill>
          <a:ln cap="flat" cmpd="sng" w="25400">
            <a:solidFill>
              <a:srgbClr val="2ECC71"/>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5"/>
          <p:cNvSpPr/>
          <p:nvPr/>
        </p:nvSpPr>
        <p:spPr>
          <a:xfrm>
            <a:off x="6126480" y="3621024"/>
            <a:ext cx="1325880" cy="6665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CC71"/>
              </a:buClr>
              <a:buSzPts val="2400"/>
              <a:buFont typeface="Trebuchet MS"/>
              <a:buNone/>
            </a:pPr>
            <a:r>
              <a:rPr b="1" i="0" lang="en-US" sz="2400" u="none" cap="none" strike="noStrike">
                <a:solidFill>
                  <a:srgbClr val="2ECC71"/>
                </a:solidFill>
                <a:latin typeface="Trebuchet MS"/>
                <a:ea typeface="Trebuchet MS"/>
                <a:cs typeface="Trebuchet MS"/>
                <a:sym typeface="Trebuchet MS"/>
              </a:rPr>
              <a:t>RMSPE</a:t>
            </a:r>
            <a:endParaRPr b="0" i="0" sz="2400" u="none" cap="none" strike="noStrike">
              <a:solidFill>
                <a:schemeClr val="dk1"/>
              </a:solidFill>
              <a:latin typeface="Calibri"/>
              <a:ea typeface="Calibri"/>
              <a:cs typeface="Calibri"/>
              <a:sym typeface="Calibri"/>
            </a:endParaRPr>
          </a:p>
        </p:txBody>
      </p:sp>
      <p:sp>
        <p:nvSpPr>
          <p:cNvPr id="97" name="Google Shape;97;p5"/>
          <p:cNvSpPr/>
          <p:nvPr/>
        </p:nvSpPr>
        <p:spPr>
          <a:xfrm>
            <a:off x="6126480" y="4288536"/>
            <a:ext cx="1325880" cy="4690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performance</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metric</a:t>
            </a:r>
            <a:endParaRPr b="0" i="0" sz="1050" u="none" cap="none" strike="noStrike">
              <a:solidFill>
                <a:schemeClr val="dk1"/>
              </a:solidFill>
              <a:latin typeface="Calibri"/>
              <a:ea typeface="Calibri"/>
              <a:cs typeface="Calibri"/>
              <a:sym typeface="Calibri"/>
            </a:endParaRPr>
          </a:p>
        </p:txBody>
      </p:sp>
      <p:sp>
        <p:nvSpPr>
          <p:cNvPr id="98" name="Google Shape;98;p5"/>
          <p:cNvSpPr/>
          <p:nvPr/>
        </p:nvSpPr>
        <p:spPr>
          <a:xfrm>
            <a:off x="7589520" y="804672"/>
            <a:ext cx="1417320" cy="1234440"/>
          </a:xfrm>
          <a:prstGeom prst="rect">
            <a:avLst/>
          </a:prstGeom>
          <a:solidFill>
            <a:srgbClr val="141B47"/>
          </a:solidFill>
          <a:ln cap="flat" cmpd="sng" w="25400">
            <a:solidFill>
              <a:srgbClr val="F0C04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5"/>
          <p:cNvSpPr/>
          <p:nvPr/>
        </p:nvSpPr>
        <p:spPr>
          <a:xfrm>
            <a:off x="7635240" y="877824"/>
            <a:ext cx="1325880" cy="6665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2000"/>
              <a:buFont typeface="Trebuchet MS"/>
              <a:buNone/>
            </a:pPr>
            <a:r>
              <a:rPr b="1" i="0" lang="en-US" sz="2000" u="none" cap="none" strike="noStrike">
                <a:solidFill>
                  <a:srgbClr val="F0C040"/>
                </a:solidFill>
                <a:latin typeface="Trebuchet MS"/>
                <a:ea typeface="Trebuchet MS"/>
                <a:cs typeface="Trebuchet MS"/>
                <a:sym typeface="Trebuchet MS"/>
              </a:rPr>
              <a:t>L1 / L2</a:t>
            </a:r>
            <a:endParaRPr b="0" i="0" sz="2000" u="none" cap="none" strike="noStrike">
              <a:solidFill>
                <a:schemeClr val="dk1"/>
              </a:solidFill>
              <a:latin typeface="Calibri"/>
              <a:ea typeface="Calibri"/>
              <a:cs typeface="Calibri"/>
              <a:sym typeface="Calibri"/>
            </a:endParaRPr>
          </a:p>
        </p:txBody>
      </p:sp>
      <p:sp>
        <p:nvSpPr>
          <p:cNvPr id="100" name="Google Shape;100;p5"/>
          <p:cNvSpPr/>
          <p:nvPr/>
        </p:nvSpPr>
        <p:spPr>
          <a:xfrm>
            <a:off x="7635240" y="1545336"/>
            <a:ext cx="1325880" cy="4690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01" name="Google Shape;101;p5"/>
          <p:cNvSpPr/>
          <p:nvPr/>
        </p:nvSpPr>
        <p:spPr>
          <a:xfrm>
            <a:off x="7589520" y="2176272"/>
            <a:ext cx="1417320" cy="1234440"/>
          </a:xfrm>
          <a:prstGeom prst="rect">
            <a:avLst/>
          </a:prstGeom>
          <a:solidFill>
            <a:srgbClr val="141B47"/>
          </a:solidFill>
          <a:ln cap="flat" cmpd="sng" w="25400">
            <a:solidFill>
              <a:srgbClr val="CADCFC"/>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5"/>
          <p:cNvSpPr/>
          <p:nvPr/>
        </p:nvSpPr>
        <p:spPr>
          <a:xfrm>
            <a:off x="7635240" y="2249424"/>
            <a:ext cx="1325880" cy="6665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3000"/>
              <a:buFont typeface="Trebuchet MS"/>
              <a:buNone/>
            </a:pPr>
            <a:r>
              <a:rPr b="1" i="0" lang="en-US" sz="3000" u="none" cap="none" strike="noStrike">
                <a:solidFill>
                  <a:srgbClr val="CADCFC"/>
                </a:solidFill>
                <a:latin typeface="Trebuchet MS"/>
                <a:ea typeface="Trebuchet MS"/>
                <a:cs typeface="Trebuchet MS"/>
                <a:sym typeface="Trebuchet MS"/>
              </a:rPr>
              <a:t>100x</a:t>
            </a:r>
            <a:endParaRPr b="0" i="0" sz="3000" u="none" cap="none" strike="noStrike">
              <a:solidFill>
                <a:schemeClr val="dk1"/>
              </a:solidFill>
              <a:latin typeface="Calibri"/>
              <a:ea typeface="Calibri"/>
              <a:cs typeface="Calibri"/>
              <a:sym typeface="Calibri"/>
            </a:endParaRPr>
          </a:p>
        </p:txBody>
      </p:sp>
      <p:sp>
        <p:nvSpPr>
          <p:cNvPr id="103" name="Google Shape;103;p5"/>
          <p:cNvSpPr/>
          <p:nvPr/>
        </p:nvSpPr>
        <p:spPr>
          <a:xfrm>
            <a:off x="7635240" y="2916936"/>
            <a:ext cx="1325880" cy="4690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CV iterations</a:t>
            </a:r>
            <a:endParaRPr b="0" i="0" sz="1050" u="none" cap="none" strike="noStrike">
              <a:solidFill>
                <a:schemeClr val="dk1"/>
              </a:solidFill>
              <a:latin typeface="Calibri"/>
              <a:ea typeface="Calibri"/>
              <a:cs typeface="Calibri"/>
              <a:sym typeface="Calibri"/>
            </a:endParaRPr>
          </a:p>
        </p:txBody>
      </p:sp>
      <p:sp>
        <p:nvSpPr>
          <p:cNvPr id="104" name="Google Shape;104;p5"/>
          <p:cNvSpPr/>
          <p:nvPr/>
        </p:nvSpPr>
        <p:spPr>
          <a:xfrm>
            <a:off x="7589520" y="3547872"/>
            <a:ext cx="1417320" cy="1234440"/>
          </a:xfrm>
          <a:prstGeom prst="rect">
            <a:avLst/>
          </a:prstGeom>
          <a:solidFill>
            <a:srgbClr val="141B47"/>
          </a:solidFill>
          <a:ln cap="flat" cmpd="sng" w="25400">
            <a:solidFill>
              <a:srgbClr val="2ECC71"/>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
          <p:cNvSpPr/>
          <p:nvPr/>
        </p:nvSpPr>
        <p:spPr>
          <a:xfrm>
            <a:off x="7635240" y="3621024"/>
            <a:ext cx="1325880" cy="6665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CC71"/>
              </a:buClr>
              <a:buSzPts val="2400"/>
              <a:buFont typeface="Trebuchet MS"/>
              <a:buNone/>
            </a:pPr>
            <a:r>
              <a:rPr b="1" i="0" lang="en-US" sz="2400" u="none" cap="none" strike="noStrike">
                <a:solidFill>
                  <a:srgbClr val="2ECC71"/>
                </a:solidFill>
                <a:latin typeface="Trebuchet MS"/>
                <a:ea typeface="Trebuchet MS"/>
                <a:cs typeface="Trebuchet MS"/>
                <a:sym typeface="Trebuchet MS"/>
              </a:rPr>
              <a:t>log1p</a:t>
            </a:r>
            <a:endParaRPr b="0" i="0" sz="2400" u="none" cap="none" strike="noStrike">
              <a:solidFill>
                <a:schemeClr val="dk1"/>
              </a:solidFill>
              <a:latin typeface="Calibri"/>
              <a:ea typeface="Calibri"/>
              <a:cs typeface="Calibri"/>
              <a:sym typeface="Calibri"/>
            </a:endParaRPr>
          </a:p>
        </p:txBody>
      </p:sp>
      <p:sp>
        <p:nvSpPr>
          <p:cNvPr id="106" name="Google Shape;106;p5"/>
          <p:cNvSpPr/>
          <p:nvPr/>
        </p:nvSpPr>
        <p:spPr>
          <a:xfrm>
            <a:off x="7635240" y="4288536"/>
            <a:ext cx="1325880" cy="4690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target transform</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111" name="Shape 111"/>
        <p:cNvGrpSpPr/>
        <p:nvPr/>
      </p:nvGrpSpPr>
      <p:grpSpPr>
        <a:xfrm>
          <a:off x="0" y="0"/>
          <a:ext cx="0" cy="0"/>
          <a:chOff x="0" y="0"/>
          <a:chExt cx="0" cy="0"/>
        </a:xfrm>
      </p:grpSpPr>
      <p:sp>
        <p:nvSpPr>
          <p:cNvPr id="112" name="Google Shape;112;p6"/>
          <p:cNvSpPr/>
          <p:nvPr/>
        </p:nvSpPr>
        <p:spPr>
          <a:xfrm>
            <a:off x="0" y="0"/>
            <a:ext cx="9144000" cy="658368"/>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6"/>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Data &amp; Cleaning</a:t>
            </a:r>
            <a:endParaRPr b="0" i="0" sz="2200" u="none" cap="none" strike="noStrike">
              <a:solidFill>
                <a:schemeClr val="dk1"/>
              </a:solidFill>
              <a:latin typeface="Calibri"/>
              <a:ea typeface="Calibri"/>
              <a:cs typeface="Calibri"/>
              <a:sym typeface="Calibri"/>
            </a:endParaRPr>
          </a:p>
        </p:txBody>
      </p:sp>
      <p:sp>
        <p:nvSpPr>
          <p:cNvPr id="114" name="Google Shape;114;p6"/>
          <p:cNvSpPr/>
          <p:nvPr/>
        </p:nvSpPr>
        <p:spPr>
          <a:xfrm>
            <a:off x="0" y="0"/>
            <a:ext cx="164592" cy="51435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6"/>
          <p:cNvSpPr/>
          <p:nvPr/>
        </p:nvSpPr>
        <p:spPr>
          <a:xfrm>
            <a:off x="0" y="4892040"/>
            <a:ext cx="9144000" cy="25146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6"/>
          <p:cNvSpPr/>
          <p:nvPr/>
        </p:nvSpPr>
        <p:spPr>
          <a:xfrm>
            <a:off x="274320" y="4892040"/>
            <a:ext cx="8595360" cy="2514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DFF0"/>
              </a:buClr>
              <a:buSzPts val="900"/>
              <a:buFont typeface="Calibri"/>
              <a:buNone/>
            </a:pPr>
            <a:r>
              <a:rPr b="0" i="0" lang="en-US" sz="900" u="none" cap="none" strike="noStrike">
                <a:solidFill>
                  <a:srgbClr val="D6DFF0"/>
                </a:solidFill>
                <a:latin typeface="Calibri"/>
                <a:ea typeface="Calibri"/>
                <a:cs typeface="Calibri"/>
                <a:sym typeface="Calibri"/>
              </a:rPr>
              <a:t>Abraham De Vargas  ·  Deep Dive Data Science Cohort-20  ·  04/04/2026  ·  Data Collection &amp; Cleaning</a:t>
            </a:r>
            <a:endParaRPr b="0" i="0" sz="900" u="none" cap="none" strike="noStrike">
              <a:solidFill>
                <a:schemeClr val="dk1"/>
              </a:solidFill>
              <a:latin typeface="Calibri"/>
              <a:ea typeface="Calibri"/>
              <a:cs typeface="Calibri"/>
              <a:sym typeface="Calibri"/>
            </a:endParaRPr>
          </a:p>
        </p:txBody>
      </p:sp>
      <p:sp>
        <p:nvSpPr>
          <p:cNvPr id="117" name="Google Shape;117;p6"/>
          <p:cNvSpPr/>
          <p:nvPr/>
        </p:nvSpPr>
        <p:spPr>
          <a:xfrm>
            <a:off x="347472" y="749808"/>
            <a:ext cx="8503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BB8"/>
              </a:buClr>
              <a:buSzPts val="1200"/>
              <a:buFont typeface="Calibri"/>
              <a:buNone/>
            </a:pPr>
            <a:r>
              <a:rPr b="0" i="1" lang="en-US" sz="1200" u="none" cap="none" strike="noStrike">
                <a:solidFill>
                  <a:srgbClr val="8A9BB8"/>
                </a:solidFill>
                <a:latin typeface="Calibri"/>
                <a:ea typeface="Calibri"/>
                <a:cs typeface="Calibri"/>
                <a:sym typeface="Calibri"/>
              </a:rPr>
              <a:t>Ames Housing Dataset  —  Ames, Iowa residential sales  ·  Hosted on AWS S3</a:t>
            </a:r>
            <a:endParaRPr b="0" i="0" sz="1200" u="none" cap="none" strike="noStrike">
              <a:solidFill>
                <a:schemeClr val="dk1"/>
              </a:solidFill>
              <a:latin typeface="Calibri"/>
              <a:ea typeface="Calibri"/>
              <a:cs typeface="Calibri"/>
              <a:sym typeface="Calibri"/>
            </a:endParaRPr>
          </a:p>
        </p:txBody>
      </p:sp>
      <p:sp>
        <p:nvSpPr>
          <p:cNvPr id="118" name="Google Shape;118;p6"/>
          <p:cNvSpPr/>
          <p:nvPr/>
        </p:nvSpPr>
        <p:spPr>
          <a:xfrm>
            <a:off x="347472" y="1170432"/>
            <a:ext cx="2606040" cy="3291840"/>
          </a:xfrm>
          <a:prstGeom prst="rect">
            <a:avLst/>
          </a:prstGeom>
          <a:solidFill>
            <a:srgbClr val="141B47"/>
          </a:solidFill>
          <a:ln cap="flat" cmpd="sng" w="12700">
            <a:solidFill>
              <a:srgbClr val="4A6FBF"/>
            </a:solidFill>
            <a:prstDash val="solid"/>
            <a:round/>
            <a:headEnd len="sm" w="sm" type="none"/>
            <a:tailEnd len="sm" w="sm" type="none"/>
          </a:ln>
          <a:effectLst>
            <a:outerShdw blurRad="76200" rotWithShape="0" algn="bl" dir="8100000" dist="254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6"/>
          <p:cNvSpPr/>
          <p:nvPr/>
        </p:nvSpPr>
        <p:spPr>
          <a:xfrm>
            <a:off x="347472" y="1170432"/>
            <a:ext cx="2606040" cy="502920"/>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6"/>
          <p:cNvSpPr/>
          <p:nvPr/>
        </p:nvSpPr>
        <p:spPr>
          <a:xfrm>
            <a:off x="347472" y="1170432"/>
            <a:ext cx="26060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Trebuchet MS"/>
              <a:buNone/>
            </a:pPr>
            <a:r>
              <a:rPr b="1" i="0" lang="en-US" sz="1400" u="none" cap="none" strike="noStrike">
                <a:solidFill>
                  <a:srgbClr val="FFFFFF"/>
                </a:solidFill>
                <a:latin typeface="Trebuchet MS"/>
                <a:ea typeface="Trebuchet MS"/>
                <a:cs typeface="Trebuchet MS"/>
                <a:sym typeface="Trebuchet MS"/>
              </a:rPr>
              <a:t>DROPPED</a:t>
            </a:r>
            <a:endParaRPr b="0" i="0" sz="1400" u="none" cap="none" strike="noStrike">
              <a:solidFill>
                <a:schemeClr val="dk1"/>
              </a:solidFill>
              <a:latin typeface="Calibri"/>
              <a:ea typeface="Calibri"/>
              <a:cs typeface="Calibri"/>
              <a:sym typeface="Calibri"/>
            </a:endParaRPr>
          </a:p>
        </p:txBody>
      </p:sp>
      <p:sp>
        <p:nvSpPr>
          <p:cNvPr id="121" name="Google Shape;121;p6"/>
          <p:cNvSpPr/>
          <p:nvPr/>
        </p:nvSpPr>
        <p:spPr>
          <a:xfrm>
            <a:off x="484632" y="1764792"/>
            <a:ext cx="23317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2200"/>
              <a:buFont typeface="Trebuchet MS"/>
              <a:buNone/>
            </a:pPr>
            <a:r>
              <a:rPr b="1" i="0" lang="en-US" sz="2200" u="none" cap="none" strike="noStrike">
                <a:solidFill>
                  <a:srgbClr val="F0C040"/>
                </a:solidFill>
                <a:latin typeface="Trebuchet MS"/>
                <a:ea typeface="Trebuchet MS"/>
                <a:cs typeface="Trebuchet MS"/>
                <a:sym typeface="Trebuchet MS"/>
              </a:rPr>
              <a:t>4 columns</a:t>
            </a:r>
            <a:endParaRPr b="0" i="0" sz="2200" u="none" cap="none" strike="noStrike">
              <a:solidFill>
                <a:schemeClr val="dk1"/>
              </a:solidFill>
              <a:latin typeface="Calibri"/>
              <a:ea typeface="Calibri"/>
              <a:cs typeface="Calibri"/>
              <a:sym typeface="Calibri"/>
            </a:endParaRPr>
          </a:p>
        </p:txBody>
      </p:sp>
      <p:sp>
        <p:nvSpPr>
          <p:cNvPr id="122" name="Google Shape;122;p6"/>
          <p:cNvSpPr/>
          <p:nvPr/>
        </p:nvSpPr>
        <p:spPr>
          <a:xfrm>
            <a:off x="484632" y="2359152"/>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PID (ID column)</a:t>
            </a:r>
            <a:endParaRPr b="0" i="0" sz="1200" u="none" cap="none" strike="noStrike">
              <a:solidFill>
                <a:schemeClr val="dk1"/>
              </a:solidFill>
              <a:latin typeface="Calibri"/>
              <a:ea typeface="Calibri"/>
              <a:cs typeface="Calibri"/>
              <a:sym typeface="Calibri"/>
            </a:endParaRPr>
          </a:p>
        </p:txBody>
      </p:sp>
      <p:sp>
        <p:nvSpPr>
          <p:cNvPr id="123" name="Google Shape;123;p6"/>
          <p:cNvSpPr/>
          <p:nvPr/>
        </p:nvSpPr>
        <p:spPr>
          <a:xfrm>
            <a:off x="484632" y="2743200"/>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Pool QC, Misc Feature, Alley</a:t>
            </a:r>
            <a:endParaRPr b="0" i="0" sz="1200" u="none" cap="none" strike="noStrike">
              <a:solidFill>
                <a:schemeClr val="dk1"/>
              </a:solidFill>
              <a:latin typeface="Calibri"/>
              <a:ea typeface="Calibri"/>
              <a:cs typeface="Calibri"/>
              <a:sym typeface="Calibri"/>
            </a:endParaRPr>
          </a:p>
        </p:txBody>
      </p:sp>
      <p:sp>
        <p:nvSpPr>
          <p:cNvPr id="124" name="Google Shape;124;p6"/>
          <p:cNvSpPr/>
          <p:nvPr/>
        </p:nvSpPr>
        <p:spPr>
          <a:xfrm>
            <a:off x="484632" y="3127248"/>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(all &gt;80% null)</a:t>
            </a:r>
            <a:endParaRPr b="0" i="0" sz="1200" u="none" cap="none" strike="noStrike">
              <a:solidFill>
                <a:schemeClr val="dk1"/>
              </a:solidFill>
              <a:latin typeface="Calibri"/>
              <a:ea typeface="Calibri"/>
              <a:cs typeface="Calibri"/>
              <a:sym typeface="Calibri"/>
            </a:endParaRPr>
          </a:p>
        </p:txBody>
      </p:sp>
      <p:sp>
        <p:nvSpPr>
          <p:cNvPr id="125" name="Google Shape;125;p6"/>
          <p:cNvSpPr/>
          <p:nvPr/>
        </p:nvSpPr>
        <p:spPr>
          <a:xfrm>
            <a:off x="3182112" y="1170432"/>
            <a:ext cx="2606040" cy="3291840"/>
          </a:xfrm>
          <a:prstGeom prst="rect">
            <a:avLst/>
          </a:prstGeom>
          <a:solidFill>
            <a:srgbClr val="141B47"/>
          </a:solidFill>
          <a:ln cap="flat" cmpd="sng" w="12700">
            <a:solidFill>
              <a:srgbClr val="4A6FBF"/>
            </a:solidFill>
            <a:prstDash val="solid"/>
            <a:round/>
            <a:headEnd len="sm" w="sm" type="none"/>
            <a:tailEnd len="sm" w="sm" type="none"/>
          </a:ln>
          <a:effectLst>
            <a:outerShdw blurRad="76200" rotWithShape="0" algn="bl" dir="8100000" dist="254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6"/>
          <p:cNvSpPr/>
          <p:nvPr/>
        </p:nvSpPr>
        <p:spPr>
          <a:xfrm>
            <a:off x="3182112" y="1170432"/>
            <a:ext cx="2606040" cy="502920"/>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6"/>
          <p:cNvSpPr/>
          <p:nvPr/>
        </p:nvSpPr>
        <p:spPr>
          <a:xfrm>
            <a:off x="3182112" y="1170432"/>
            <a:ext cx="26060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Trebuchet MS"/>
              <a:buNone/>
            </a:pPr>
            <a:r>
              <a:rPr b="1" i="0" lang="en-US" sz="1400" u="none" cap="none" strike="noStrike">
                <a:solidFill>
                  <a:srgbClr val="FFFFFF"/>
                </a:solidFill>
                <a:latin typeface="Trebuchet MS"/>
                <a:ea typeface="Trebuchet MS"/>
                <a:cs typeface="Trebuchet MS"/>
                <a:sym typeface="Trebuchet MS"/>
              </a:rPr>
              <a:t>IMPUTED</a:t>
            </a:r>
            <a:endParaRPr b="0" i="0" sz="1400" u="none" cap="none" strike="noStrike">
              <a:solidFill>
                <a:schemeClr val="dk1"/>
              </a:solidFill>
              <a:latin typeface="Calibri"/>
              <a:ea typeface="Calibri"/>
              <a:cs typeface="Calibri"/>
              <a:sym typeface="Calibri"/>
            </a:endParaRPr>
          </a:p>
        </p:txBody>
      </p:sp>
      <p:sp>
        <p:nvSpPr>
          <p:cNvPr id="128" name="Google Shape;128;p6"/>
          <p:cNvSpPr/>
          <p:nvPr/>
        </p:nvSpPr>
        <p:spPr>
          <a:xfrm>
            <a:off x="3319272" y="1764792"/>
            <a:ext cx="23317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2200"/>
              <a:buFont typeface="Trebuchet MS"/>
              <a:buNone/>
            </a:pPr>
            <a:r>
              <a:rPr b="1" i="0" lang="en-US" sz="2200" u="none" cap="none" strike="noStrike">
                <a:solidFill>
                  <a:srgbClr val="F0C040"/>
                </a:solidFill>
                <a:latin typeface="Trebuchet MS"/>
                <a:ea typeface="Trebuchet MS"/>
                <a:cs typeface="Trebuchet MS"/>
                <a:sym typeface="Trebuchet MS"/>
              </a:rPr>
              <a:t>0 nulls remain</a:t>
            </a:r>
            <a:endParaRPr b="0" i="0" sz="2200" u="none" cap="none" strike="noStrike">
              <a:solidFill>
                <a:schemeClr val="dk1"/>
              </a:solidFill>
              <a:latin typeface="Calibri"/>
              <a:ea typeface="Calibri"/>
              <a:cs typeface="Calibri"/>
              <a:sym typeface="Calibri"/>
            </a:endParaRPr>
          </a:p>
        </p:txBody>
      </p:sp>
      <p:sp>
        <p:nvSpPr>
          <p:cNvPr id="129" name="Google Shape;129;p6"/>
          <p:cNvSpPr/>
          <p:nvPr/>
        </p:nvSpPr>
        <p:spPr>
          <a:xfrm>
            <a:off x="3319272" y="2359152"/>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Categorical nulls → 'None'</a:t>
            </a:r>
            <a:endParaRPr b="0" i="0" sz="1200" u="none" cap="none" strike="noStrike">
              <a:solidFill>
                <a:schemeClr val="dk1"/>
              </a:solidFill>
              <a:latin typeface="Calibri"/>
              <a:ea typeface="Calibri"/>
              <a:cs typeface="Calibri"/>
              <a:sym typeface="Calibri"/>
            </a:endParaRPr>
          </a:p>
        </p:txBody>
      </p:sp>
      <p:sp>
        <p:nvSpPr>
          <p:cNvPr id="130" name="Google Shape;130;p6"/>
          <p:cNvSpPr/>
          <p:nvPr/>
        </p:nvSpPr>
        <p:spPr>
          <a:xfrm>
            <a:off x="3319272" y="2743200"/>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(no garage = no garage,</a:t>
            </a:r>
            <a:endParaRPr b="0" i="0" sz="1200" u="none" cap="none" strike="noStrike">
              <a:solidFill>
                <a:schemeClr val="dk1"/>
              </a:solidFill>
              <a:latin typeface="Calibri"/>
              <a:ea typeface="Calibri"/>
              <a:cs typeface="Calibri"/>
              <a:sym typeface="Calibri"/>
            </a:endParaRPr>
          </a:p>
        </p:txBody>
      </p:sp>
      <p:sp>
        <p:nvSpPr>
          <p:cNvPr id="131" name="Google Shape;131;p6"/>
          <p:cNvSpPr/>
          <p:nvPr/>
        </p:nvSpPr>
        <p:spPr>
          <a:xfrm>
            <a:off x="3319272" y="3127248"/>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not missing data)</a:t>
            </a:r>
            <a:endParaRPr b="0" i="0" sz="1200" u="none" cap="none" strike="noStrike">
              <a:solidFill>
                <a:schemeClr val="dk1"/>
              </a:solidFill>
              <a:latin typeface="Calibri"/>
              <a:ea typeface="Calibri"/>
              <a:cs typeface="Calibri"/>
              <a:sym typeface="Calibri"/>
            </a:endParaRPr>
          </a:p>
        </p:txBody>
      </p:sp>
      <p:sp>
        <p:nvSpPr>
          <p:cNvPr id="132" name="Google Shape;132;p6"/>
          <p:cNvSpPr/>
          <p:nvPr/>
        </p:nvSpPr>
        <p:spPr>
          <a:xfrm>
            <a:off x="3319272" y="3511296"/>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Numeric nulls → column median</a:t>
            </a:r>
            <a:endParaRPr b="0" i="0" sz="1200" u="none" cap="none" strike="noStrike">
              <a:solidFill>
                <a:schemeClr val="dk1"/>
              </a:solidFill>
              <a:latin typeface="Calibri"/>
              <a:ea typeface="Calibri"/>
              <a:cs typeface="Calibri"/>
              <a:sym typeface="Calibri"/>
            </a:endParaRPr>
          </a:p>
        </p:txBody>
      </p:sp>
      <p:sp>
        <p:nvSpPr>
          <p:cNvPr id="133" name="Google Shape;133;p6"/>
          <p:cNvSpPr/>
          <p:nvPr/>
        </p:nvSpPr>
        <p:spPr>
          <a:xfrm>
            <a:off x="6016752" y="1170432"/>
            <a:ext cx="2606040" cy="3291840"/>
          </a:xfrm>
          <a:prstGeom prst="rect">
            <a:avLst/>
          </a:prstGeom>
          <a:solidFill>
            <a:srgbClr val="141B47"/>
          </a:solidFill>
          <a:ln cap="flat" cmpd="sng" w="12700">
            <a:solidFill>
              <a:srgbClr val="4A6FBF"/>
            </a:solidFill>
            <a:prstDash val="solid"/>
            <a:round/>
            <a:headEnd len="sm" w="sm" type="none"/>
            <a:tailEnd len="sm" w="sm" type="none"/>
          </a:ln>
          <a:effectLst>
            <a:outerShdw blurRad="76200" rotWithShape="0" algn="bl" dir="8100000" dist="254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6"/>
          <p:cNvSpPr/>
          <p:nvPr/>
        </p:nvSpPr>
        <p:spPr>
          <a:xfrm>
            <a:off x="6016752" y="1170432"/>
            <a:ext cx="2606040" cy="502920"/>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6"/>
          <p:cNvSpPr/>
          <p:nvPr/>
        </p:nvSpPr>
        <p:spPr>
          <a:xfrm>
            <a:off x="6016752" y="1170432"/>
            <a:ext cx="26060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Trebuchet MS"/>
              <a:buNone/>
            </a:pPr>
            <a:r>
              <a:rPr b="1" i="0" lang="en-US" sz="1400" u="none" cap="none" strike="noStrike">
                <a:solidFill>
                  <a:srgbClr val="FFFFFF"/>
                </a:solidFill>
                <a:latin typeface="Trebuchet MS"/>
                <a:ea typeface="Trebuchet MS"/>
                <a:cs typeface="Trebuchet MS"/>
                <a:sym typeface="Trebuchet MS"/>
              </a:rPr>
              <a:t>ENCODED</a:t>
            </a:r>
            <a:endParaRPr b="0" i="0" sz="1400" u="none" cap="none" strike="noStrike">
              <a:solidFill>
                <a:schemeClr val="dk1"/>
              </a:solidFill>
              <a:latin typeface="Calibri"/>
              <a:ea typeface="Calibri"/>
              <a:cs typeface="Calibri"/>
              <a:sym typeface="Calibri"/>
            </a:endParaRPr>
          </a:p>
        </p:txBody>
      </p:sp>
      <p:sp>
        <p:nvSpPr>
          <p:cNvPr id="136" name="Google Shape;136;p6"/>
          <p:cNvSpPr/>
          <p:nvPr/>
        </p:nvSpPr>
        <p:spPr>
          <a:xfrm>
            <a:off x="6153912" y="1764792"/>
            <a:ext cx="23317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2200"/>
              <a:buFont typeface="Trebuchet MS"/>
              <a:buNone/>
            </a:pPr>
            <a:r>
              <a:rPr b="1" i="0" lang="en-US" sz="2200" u="none" cap="none" strike="noStrike">
                <a:solidFill>
                  <a:srgbClr val="F0C040"/>
                </a:solidFill>
                <a:latin typeface="Trebuchet MS"/>
                <a:ea typeface="Trebuchet MS"/>
                <a:cs typeface="Trebuchet MS"/>
                <a:sym typeface="Trebuchet MS"/>
              </a:rPr>
              <a:t>263 features</a:t>
            </a:r>
            <a:endParaRPr b="0" i="0" sz="2200" u="none" cap="none" strike="noStrike">
              <a:solidFill>
                <a:schemeClr val="dk1"/>
              </a:solidFill>
              <a:latin typeface="Calibri"/>
              <a:ea typeface="Calibri"/>
              <a:cs typeface="Calibri"/>
              <a:sym typeface="Calibri"/>
            </a:endParaRPr>
          </a:p>
        </p:txBody>
      </p:sp>
      <p:sp>
        <p:nvSpPr>
          <p:cNvPr id="137" name="Google Shape;137;p6"/>
          <p:cNvSpPr/>
          <p:nvPr/>
        </p:nvSpPr>
        <p:spPr>
          <a:xfrm>
            <a:off x="6153912" y="2359152"/>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One-hot encoding of all</a:t>
            </a:r>
            <a:endParaRPr b="0" i="0" sz="1200" u="none" cap="none" strike="noStrike">
              <a:solidFill>
                <a:schemeClr val="dk1"/>
              </a:solidFill>
              <a:latin typeface="Calibri"/>
              <a:ea typeface="Calibri"/>
              <a:cs typeface="Calibri"/>
              <a:sym typeface="Calibri"/>
            </a:endParaRPr>
          </a:p>
        </p:txBody>
      </p:sp>
      <p:sp>
        <p:nvSpPr>
          <p:cNvPr id="138" name="Google Shape;138;p6"/>
          <p:cNvSpPr/>
          <p:nvPr/>
        </p:nvSpPr>
        <p:spPr>
          <a:xfrm>
            <a:off x="6153912" y="2743200"/>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object columns</a:t>
            </a:r>
            <a:endParaRPr b="0" i="0" sz="1200" u="none" cap="none" strike="noStrike">
              <a:solidFill>
                <a:schemeClr val="dk1"/>
              </a:solidFill>
              <a:latin typeface="Calibri"/>
              <a:ea typeface="Calibri"/>
              <a:cs typeface="Calibri"/>
              <a:sym typeface="Calibri"/>
            </a:endParaRPr>
          </a:p>
        </p:txBody>
      </p:sp>
      <p:sp>
        <p:nvSpPr>
          <p:cNvPr id="139" name="Google Shape;139;p6"/>
          <p:cNvSpPr/>
          <p:nvPr/>
        </p:nvSpPr>
        <p:spPr>
          <a:xfrm>
            <a:off x="6153912" y="3127248"/>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drop_first=True avoids</a:t>
            </a:r>
            <a:endParaRPr b="0" i="0" sz="1200" u="none" cap="none" strike="noStrike">
              <a:solidFill>
                <a:schemeClr val="dk1"/>
              </a:solidFill>
              <a:latin typeface="Calibri"/>
              <a:ea typeface="Calibri"/>
              <a:cs typeface="Calibri"/>
              <a:sym typeface="Calibri"/>
            </a:endParaRPr>
          </a:p>
        </p:txBody>
      </p:sp>
      <p:sp>
        <p:nvSpPr>
          <p:cNvPr id="140" name="Google Shape;140;p6"/>
          <p:cNvSpPr/>
          <p:nvPr/>
        </p:nvSpPr>
        <p:spPr>
          <a:xfrm>
            <a:off x="6153912" y="3511296"/>
            <a:ext cx="2331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dummy variable trap</a:t>
            </a:r>
            <a:endParaRPr b="0" i="0" sz="1200" u="none" cap="none" strike="noStrike">
              <a:solidFill>
                <a:schemeClr val="dk1"/>
              </a:solidFill>
              <a:latin typeface="Calibri"/>
              <a:ea typeface="Calibri"/>
              <a:cs typeface="Calibri"/>
              <a:sym typeface="Calibri"/>
            </a:endParaRPr>
          </a:p>
        </p:txBody>
      </p:sp>
      <p:sp>
        <p:nvSpPr>
          <p:cNvPr id="141" name="Google Shape;141;p6"/>
          <p:cNvSpPr/>
          <p:nvPr/>
        </p:nvSpPr>
        <p:spPr>
          <a:xfrm>
            <a:off x="347472" y="4617720"/>
            <a:ext cx="8503920" cy="237744"/>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6"/>
          <p:cNvSpPr/>
          <p:nvPr/>
        </p:nvSpPr>
        <p:spPr>
          <a:xfrm>
            <a:off x="347472" y="4617720"/>
            <a:ext cx="850392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1" i="0" lang="en-US" sz="1050" u="none" cap="none" strike="noStrike">
                <a:solidFill>
                  <a:srgbClr val="CADCFC"/>
                </a:solidFill>
                <a:latin typeface="Calibri"/>
                <a:ea typeface="Calibri"/>
                <a:cs typeface="Calibri"/>
                <a:sym typeface="Calibri"/>
              </a:rPr>
              <a:t>Final cleaned shape: 2,637 rows × 77 columns   →   263 encoded features after one-hot encoding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147" name="Shape 147"/>
        <p:cNvGrpSpPr/>
        <p:nvPr/>
      </p:nvGrpSpPr>
      <p:grpSpPr>
        <a:xfrm>
          <a:off x="0" y="0"/>
          <a:ext cx="0" cy="0"/>
          <a:chOff x="0" y="0"/>
          <a:chExt cx="0" cy="0"/>
        </a:xfrm>
      </p:grpSpPr>
      <p:sp>
        <p:nvSpPr>
          <p:cNvPr id="148" name="Google Shape;148;p7"/>
          <p:cNvSpPr/>
          <p:nvPr/>
        </p:nvSpPr>
        <p:spPr>
          <a:xfrm>
            <a:off x="0" y="0"/>
            <a:ext cx="9144000" cy="658368"/>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7"/>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Exploratory Data Analysis</a:t>
            </a:r>
            <a:endParaRPr b="0" i="0" sz="2200" u="none" cap="none" strike="noStrike">
              <a:solidFill>
                <a:schemeClr val="dk1"/>
              </a:solidFill>
              <a:latin typeface="Calibri"/>
              <a:ea typeface="Calibri"/>
              <a:cs typeface="Calibri"/>
              <a:sym typeface="Calibri"/>
            </a:endParaRPr>
          </a:p>
        </p:txBody>
      </p:sp>
      <p:sp>
        <p:nvSpPr>
          <p:cNvPr id="150" name="Google Shape;150;p7"/>
          <p:cNvSpPr/>
          <p:nvPr/>
        </p:nvSpPr>
        <p:spPr>
          <a:xfrm>
            <a:off x="0" y="0"/>
            <a:ext cx="164592" cy="51435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7"/>
          <p:cNvSpPr/>
          <p:nvPr/>
        </p:nvSpPr>
        <p:spPr>
          <a:xfrm>
            <a:off x="0" y="4892040"/>
            <a:ext cx="9144000" cy="25146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7"/>
          <p:cNvSpPr/>
          <p:nvPr/>
        </p:nvSpPr>
        <p:spPr>
          <a:xfrm>
            <a:off x="274320" y="4892040"/>
            <a:ext cx="8595360" cy="2514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DFF0"/>
              </a:buClr>
              <a:buSzPts val="900"/>
              <a:buFont typeface="Calibri"/>
              <a:buNone/>
            </a:pPr>
            <a:r>
              <a:rPr b="0" i="0" lang="en-US" sz="900" u="none" cap="none" strike="noStrike">
                <a:solidFill>
                  <a:srgbClr val="D6DFF0"/>
                </a:solidFill>
                <a:latin typeface="Calibri"/>
                <a:ea typeface="Calibri"/>
                <a:cs typeface="Calibri"/>
                <a:sym typeface="Calibri"/>
              </a:rPr>
              <a:t>Abraham De Vargas  ·  Deep Dive Data Science Cohort-20  ·  04/04/2026  ·  EDA</a:t>
            </a:r>
            <a:endParaRPr b="0" i="0" sz="900" u="none" cap="none" strike="noStrike">
              <a:solidFill>
                <a:schemeClr val="dk1"/>
              </a:solidFill>
              <a:latin typeface="Calibri"/>
              <a:ea typeface="Calibri"/>
              <a:cs typeface="Calibri"/>
              <a:sym typeface="Calibri"/>
            </a:endParaRPr>
          </a:p>
        </p:txBody>
      </p:sp>
      <p:sp>
        <p:nvSpPr>
          <p:cNvPr id="153" name="Google Shape;153;p7"/>
          <p:cNvSpPr/>
          <p:nvPr/>
        </p:nvSpPr>
        <p:spPr>
          <a:xfrm>
            <a:off x="347472" y="749808"/>
            <a:ext cx="40233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Trebuchet MS"/>
              <a:buNone/>
            </a:pPr>
            <a:r>
              <a:rPr b="1" i="0" lang="en-US" sz="1400" u="none" cap="none" strike="noStrike">
                <a:solidFill>
                  <a:srgbClr val="1E2761"/>
                </a:solidFill>
                <a:latin typeface="Trebuchet MS"/>
                <a:ea typeface="Trebuchet MS"/>
                <a:cs typeface="Trebuchet MS"/>
                <a:sym typeface="Trebuchet MS"/>
              </a:rPr>
              <a:t>SalePrice Distribution</a:t>
            </a:r>
            <a:endParaRPr b="0" i="0" sz="1400" u="none" cap="none" strike="noStrike">
              <a:solidFill>
                <a:schemeClr val="dk1"/>
              </a:solidFill>
              <a:latin typeface="Calibri"/>
              <a:ea typeface="Calibri"/>
              <a:cs typeface="Calibri"/>
              <a:sym typeface="Calibri"/>
            </a:endParaRPr>
          </a:p>
        </p:txBody>
      </p:sp>
      <p:sp>
        <p:nvSpPr>
          <p:cNvPr id="154" name="Google Shape;154;p7"/>
          <p:cNvSpPr/>
          <p:nvPr/>
        </p:nvSpPr>
        <p:spPr>
          <a:xfrm>
            <a:off x="4663440" y="749808"/>
            <a:ext cx="4297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Trebuchet MS"/>
              <a:buNone/>
            </a:pPr>
            <a:r>
              <a:rPr b="1" i="0" lang="en-US" sz="1400" u="none" cap="none" strike="noStrike">
                <a:solidFill>
                  <a:srgbClr val="1E2761"/>
                </a:solidFill>
                <a:latin typeface="Trebuchet MS"/>
                <a:ea typeface="Trebuchet MS"/>
                <a:cs typeface="Trebuchet MS"/>
                <a:sym typeface="Trebuchet MS"/>
              </a:rPr>
              <a:t>Top Correlations with SalePrice</a:t>
            </a:r>
            <a:endParaRPr b="0" i="0" sz="1400" u="none" cap="none" strike="noStrike">
              <a:solidFill>
                <a:schemeClr val="dk1"/>
              </a:solidFill>
              <a:latin typeface="Calibri"/>
              <a:ea typeface="Calibri"/>
              <a:cs typeface="Calibri"/>
              <a:sym typeface="Calibri"/>
            </a:endParaRPr>
          </a:p>
        </p:txBody>
      </p:sp>
      <p:sp>
        <p:nvSpPr>
          <p:cNvPr id="155" name="Google Shape;155;p7"/>
          <p:cNvSpPr/>
          <p:nvPr/>
        </p:nvSpPr>
        <p:spPr>
          <a:xfrm>
            <a:off x="347472" y="1115568"/>
            <a:ext cx="4023360" cy="2468880"/>
          </a:xfrm>
          <a:prstGeom prst="rect">
            <a:avLst/>
          </a:prstGeom>
          <a:solidFill>
            <a:srgbClr val="EDF1FA"/>
          </a:solidFill>
          <a:ln cap="flat" cmpd="sng" w="19050">
            <a:solidFill>
              <a:srgbClr val="4A6FB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7"/>
          <p:cNvSpPr/>
          <p:nvPr/>
        </p:nvSpPr>
        <p:spPr>
          <a:xfrm>
            <a:off x="347472" y="3310128"/>
            <a:ext cx="402336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BB8"/>
              </a:buClr>
              <a:buSzPts val="1000"/>
              <a:buFont typeface="Calibri"/>
              <a:buNone/>
            </a:pPr>
            <a:r>
              <a:rPr b="0" i="1" lang="en-US" sz="1000" u="none" cap="none" strike="noStrike">
                <a:solidFill>
                  <a:srgbClr val="8A9BB8"/>
                </a:solidFill>
                <a:latin typeface="Calibri"/>
                <a:ea typeface="Calibri"/>
                <a:cs typeface="Calibri"/>
                <a:sym typeface="Calibri"/>
              </a:rPr>
              <a:t>Raw vs Log-Transformed SalePrice histogram</a:t>
            </a:r>
            <a:endParaRPr b="0" i="0" sz="1000" u="none" cap="none" strike="noStrike">
              <a:solidFill>
                <a:schemeClr val="dk1"/>
              </a:solidFill>
              <a:latin typeface="Calibri"/>
              <a:ea typeface="Calibri"/>
              <a:cs typeface="Calibri"/>
              <a:sym typeface="Calibri"/>
            </a:endParaRPr>
          </a:p>
        </p:txBody>
      </p:sp>
      <p:sp>
        <p:nvSpPr>
          <p:cNvPr id="157" name="Google Shape;157;p7"/>
          <p:cNvSpPr/>
          <p:nvPr/>
        </p:nvSpPr>
        <p:spPr>
          <a:xfrm>
            <a:off x="4663440" y="1115568"/>
            <a:ext cx="4206240" cy="2468880"/>
          </a:xfrm>
          <a:prstGeom prst="rect">
            <a:avLst/>
          </a:prstGeom>
          <a:solidFill>
            <a:srgbClr val="EDF1FA"/>
          </a:solidFill>
          <a:ln cap="flat" cmpd="sng" w="19050">
            <a:solidFill>
              <a:srgbClr val="4A6FB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7"/>
          <p:cNvSpPr/>
          <p:nvPr/>
        </p:nvSpPr>
        <p:spPr>
          <a:xfrm>
            <a:off x="4663440" y="3310128"/>
            <a:ext cx="4206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BB8"/>
              </a:buClr>
              <a:buSzPts val="1000"/>
              <a:buFont typeface="Calibri"/>
              <a:buNone/>
            </a:pPr>
            <a:r>
              <a:rPr b="0" i="1" lang="en-US" sz="1000" u="none" cap="none" strike="noStrike">
                <a:solidFill>
                  <a:srgbClr val="8A9BB8"/>
                </a:solidFill>
                <a:latin typeface="Calibri"/>
                <a:ea typeface="Calibri"/>
                <a:cs typeface="Calibri"/>
                <a:sym typeface="Calibri"/>
              </a:rPr>
              <a:t>Top 15 features correlation bar chart</a:t>
            </a:r>
            <a:endParaRPr b="0" i="0" sz="1000" u="none" cap="none" strike="noStrike">
              <a:solidFill>
                <a:schemeClr val="dk1"/>
              </a:solidFill>
              <a:latin typeface="Calibri"/>
              <a:ea typeface="Calibri"/>
              <a:cs typeface="Calibri"/>
              <a:sym typeface="Calibri"/>
            </a:endParaRPr>
          </a:p>
        </p:txBody>
      </p:sp>
      <p:sp>
        <p:nvSpPr>
          <p:cNvPr id="159" name="Google Shape;159;p7"/>
          <p:cNvSpPr/>
          <p:nvPr/>
        </p:nvSpPr>
        <p:spPr>
          <a:xfrm>
            <a:off x="347472" y="3703320"/>
            <a:ext cx="4023360" cy="822960"/>
          </a:xfrm>
          <a:prstGeom prst="rect">
            <a:avLst/>
          </a:prstGeom>
          <a:solidFill>
            <a:srgbClr val="141B47"/>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7"/>
          <p:cNvSpPr/>
          <p:nvPr/>
        </p:nvSpPr>
        <p:spPr>
          <a:xfrm>
            <a:off x="457200" y="3703320"/>
            <a:ext cx="379476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 Right-skewed: log transform applied before modeling</a:t>
            </a:r>
            <a:endParaRPr b="0" i="0" sz="1100" u="none" cap="none" strike="noStrike">
              <a:solidFill>
                <a:schemeClr val="dk1"/>
              </a:solidFill>
              <a:latin typeface="Calibri"/>
              <a:ea typeface="Calibri"/>
              <a:cs typeface="Calibri"/>
              <a:sym typeface="Calibri"/>
            </a:endParaRPr>
          </a:p>
        </p:txBody>
      </p:sp>
      <p:sp>
        <p:nvSpPr>
          <p:cNvPr id="161" name="Google Shape;161;p7"/>
          <p:cNvSpPr/>
          <p:nvPr/>
        </p:nvSpPr>
        <p:spPr>
          <a:xfrm>
            <a:off x="4663440" y="3703320"/>
            <a:ext cx="4206240" cy="822960"/>
          </a:xfrm>
          <a:prstGeom prst="rect">
            <a:avLst/>
          </a:prstGeom>
          <a:solidFill>
            <a:srgbClr val="141B47"/>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7"/>
          <p:cNvSpPr/>
          <p:nvPr/>
        </p:nvSpPr>
        <p:spPr>
          <a:xfrm>
            <a:off x="4773168" y="3703320"/>
            <a:ext cx="397764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  Multicollinearity between top predictors (Garage Cars ↔ Garage Area) — reason for Ridge/Lasso</a:t>
            </a:r>
            <a:endParaRPr b="0" i="0" sz="1100" u="none" cap="none" strike="noStrike">
              <a:solidFill>
                <a:schemeClr val="dk1"/>
              </a:solidFill>
              <a:latin typeface="Calibri"/>
              <a:ea typeface="Calibri"/>
              <a:cs typeface="Calibri"/>
              <a:sym typeface="Calibri"/>
            </a:endParaRPr>
          </a:p>
        </p:txBody>
      </p:sp>
      <p:pic>
        <p:nvPicPr>
          <p:cNvPr id="163" name="Google Shape;163;p7" title="download.png"/>
          <p:cNvPicPr preferRelativeResize="0"/>
          <p:nvPr/>
        </p:nvPicPr>
        <p:blipFill>
          <a:blip r:embed="rId3">
            <a:alphaModFix/>
          </a:blip>
          <a:stretch>
            <a:fillRect/>
          </a:stretch>
        </p:blipFill>
        <p:spPr>
          <a:xfrm>
            <a:off x="274326" y="1086700"/>
            <a:ext cx="4096501" cy="2534325"/>
          </a:xfrm>
          <a:prstGeom prst="rect">
            <a:avLst/>
          </a:prstGeom>
          <a:noFill/>
          <a:ln>
            <a:noFill/>
          </a:ln>
        </p:spPr>
      </p:pic>
      <p:pic>
        <p:nvPicPr>
          <p:cNvPr id="164" name="Google Shape;164;p7" title="download.png"/>
          <p:cNvPicPr preferRelativeResize="0"/>
          <p:nvPr/>
        </p:nvPicPr>
        <p:blipFill>
          <a:blip r:embed="rId4">
            <a:alphaModFix/>
          </a:blip>
          <a:stretch>
            <a:fillRect/>
          </a:stretch>
        </p:blipFill>
        <p:spPr>
          <a:xfrm>
            <a:off x="4663450" y="1069849"/>
            <a:ext cx="4297675" cy="256383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69" name="Shape 169"/>
        <p:cNvGrpSpPr/>
        <p:nvPr/>
      </p:nvGrpSpPr>
      <p:grpSpPr>
        <a:xfrm>
          <a:off x="0" y="0"/>
          <a:ext cx="0" cy="0"/>
          <a:chOff x="0" y="0"/>
          <a:chExt cx="0" cy="0"/>
        </a:xfrm>
      </p:grpSpPr>
      <p:sp>
        <p:nvSpPr>
          <p:cNvPr id="170" name="Google Shape;170;p8"/>
          <p:cNvSpPr/>
          <p:nvPr/>
        </p:nvSpPr>
        <p:spPr>
          <a:xfrm>
            <a:off x="0" y="0"/>
            <a:ext cx="9144000" cy="658368"/>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8"/>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Modeling Approach</a:t>
            </a:r>
            <a:endParaRPr b="0" i="0" sz="2200" u="none" cap="none" strike="noStrike">
              <a:solidFill>
                <a:schemeClr val="dk1"/>
              </a:solidFill>
              <a:latin typeface="Calibri"/>
              <a:ea typeface="Calibri"/>
              <a:cs typeface="Calibri"/>
              <a:sym typeface="Calibri"/>
            </a:endParaRPr>
          </a:p>
        </p:txBody>
      </p:sp>
      <p:sp>
        <p:nvSpPr>
          <p:cNvPr id="172" name="Google Shape;172;p8"/>
          <p:cNvSpPr/>
          <p:nvPr/>
        </p:nvSpPr>
        <p:spPr>
          <a:xfrm>
            <a:off x="0" y="0"/>
            <a:ext cx="164592" cy="51435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8"/>
          <p:cNvSpPr/>
          <p:nvPr/>
        </p:nvSpPr>
        <p:spPr>
          <a:xfrm>
            <a:off x="0" y="4892040"/>
            <a:ext cx="9144000" cy="25146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8"/>
          <p:cNvSpPr/>
          <p:nvPr/>
        </p:nvSpPr>
        <p:spPr>
          <a:xfrm>
            <a:off x="274320" y="4892040"/>
            <a:ext cx="8595360" cy="2514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DFF0"/>
              </a:buClr>
              <a:buSzPts val="900"/>
              <a:buFont typeface="Calibri"/>
              <a:buNone/>
            </a:pPr>
            <a:r>
              <a:rPr b="0" i="0" lang="en-US" sz="900" u="none" cap="none" strike="noStrike">
                <a:solidFill>
                  <a:srgbClr val="D6DFF0"/>
                </a:solidFill>
                <a:latin typeface="Calibri"/>
                <a:ea typeface="Calibri"/>
                <a:cs typeface="Calibri"/>
                <a:sym typeface="Calibri"/>
              </a:rPr>
              <a:t>Abraham De Vargas  ·  Deep Dive Data Science Cohort-20  ·  04/04/2026  ·  Processing</a:t>
            </a:r>
            <a:endParaRPr b="0" i="0" sz="900" u="none" cap="none" strike="noStrike">
              <a:solidFill>
                <a:schemeClr val="dk1"/>
              </a:solidFill>
              <a:latin typeface="Calibri"/>
              <a:ea typeface="Calibri"/>
              <a:cs typeface="Calibri"/>
              <a:sym typeface="Calibri"/>
            </a:endParaRPr>
          </a:p>
        </p:txBody>
      </p:sp>
      <p:sp>
        <p:nvSpPr>
          <p:cNvPr id="175" name="Google Shape;175;p8"/>
          <p:cNvSpPr/>
          <p:nvPr/>
        </p:nvSpPr>
        <p:spPr>
          <a:xfrm>
            <a:off x="868680" y="804672"/>
            <a:ext cx="658368" cy="658368"/>
          </a:xfrm>
          <a:prstGeom prst="ellipse">
            <a:avLst/>
          </a:prstGeom>
          <a:solidFill>
            <a:srgbClr val="4A6FBF"/>
          </a:solidFill>
          <a:ln cap="flat" cmpd="sng" w="1905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8"/>
          <p:cNvSpPr/>
          <p:nvPr/>
        </p:nvSpPr>
        <p:spPr>
          <a:xfrm>
            <a:off x="868680" y="804672"/>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1</a:t>
            </a:r>
            <a:endParaRPr b="0" i="0" sz="2000" u="none" cap="none" strike="noStrike">
              <a:solidFill>
                <a:schemeClr val="dk1"/>
              </a:solidFill>
              <a:latin typeface="Calibri"/>
              <a:ea typeface="Calibri"/>
              <a:cs typeface="Calibri"/>
              <a:sym typeface="Calibri"/>
            </a:endParaRPr>
          </a:p>
        </p:txBody>
      </p:sp>
      <p:sp>
        <p:nvSpPr>
          <p:cNvPr id="177" name="Google Shape;177;p8"/>
          <p:cNvSpPr/>
          <p:nvPr/>
        </p:nvSpPr>
        <p:spPr>
          <a:xfrm>
            <a:off x="1856232" y="941832"/>
            <a:ext cx="32004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1800"/>
              <a:buFont typeface="Calibri"/>
              <a:buNone/>
            </a:pPr>
            <a:r>
              <a:rPr b="0" i="0" lang="en-US" sz="1800" u="none" cap="none" strike="noStrike">
                <a:solidFill>
                  <a:srgbClr val="F0C04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78" name="Google Shape;178;p8"/>
          <p:cNvSpPr/>
          <p:nvPr/>
        </p:nvSpPr>
        <p:spPr>
          <a:xfrm>
            <a:off x="347472" y="1554480"/>
            <a:ext cx="1554480" cy="1371600"/>
          </a:xfrm>
          <a:prstGeom prst="rect">
            <a:avLst/>
          </a:prstGeom>
          <a:solidFill>
            <a:srgbClr val="141B47"/>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8"/>
          <p:cNvSpPr/>
          <p:nvPr/>
        </p:nvSpPr>
        <p:spPr>
          <a:xfrm>
            <a:off x="420624" y="1609344"/>
            <a:ext cx="1408176"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1200"/>
              <a:buFont typeface="Trebuchet MS"/>
              <a:buNone/>
            </a:pPr>
            <a:r>
              <a:rPr b="1" i="0" lang="en-US" sz="1200" u="none" cap="none" strike="noStrike">
                <a:solidFill>
                  <a:srgbClr val="F0C040"/>
                </a:solidFill>
                <a:latin typeface="Trebuchet MS"/>
                <a:ea typeface="Trebuchet MS"/>
                <a:cs typeface="Trebuchet MS"/>
                <a:sym typeface="Trebuchet MS"/>
              </a:rPr>
              <a:t>Log Transform</a:t>
            </a:r>
            <a:endParaRPr b="0" i="0" sz="1200" u="none" cap="none" strike="noStrike">
              <a:solidFill>
                <a:schemeClr val="dk1"/>
              </a:solidFill>
              <a:latin typeface="Calibri"/>
              <a:ea typeface="Calibri"/>
              <a:cs typeface="Calibri"/>
              <a:sym typeface="Calibri"/>
            </a:endParaRPr>
          </a:p>
        </p:txBody>
      </p:sp>
      <p:sp>
        <p:nvSpPr>
          <p:cNvPr id="180" name="Google Shape;180;p8"/>
          <p:cNvSpPr/>
          <p:nvPr/>
        </p:nvSpPr>
        <p:spPr>
          <a:xfrm>
            <a:off x="420624" y="1993392"/>
            <a:ext cx="1408176"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log1p(SalePrice)</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optimizes for % error</a:t>
            </a:r>
            <a:endParaRPr b="0" i="0" sz="1100" u="none" cap="none" strike="noStrike">
              <a:solidFill>
                <a:schemeClr val="dk1"/>
              </a:solidFill>
              <a:latin typeface="Calibri"/>
              <a:ea typeface="Calibri"/>
              <a:cs typeface="Calibri"/>
              <a:sym typeface="Calibri"/>
            </a:endParaRPr>
          </a:p>
        </p:txBody>
      </p:sp>
      <p:sp>
        <p:nvSpPr>
          <p:cNvPr id="181" name="Google Shape;181;p8"/>
          <p:cNvSpPr/>
          <p:nvPr/>
        </p:nvSpPr>
        <p:spPr>
          <a:xfrm>
            <a:off x="2587752" y="804672"/>
            <a:ext cx="658368" cy="658368"/>
          </a:xfrm>
          <a:prstGeom prst="ellipse">
            <a:avLst/>
          </a:prstGeom>
          <a:solidFill>
            <a:srgbClr val="4A6FBF"/>
          </a:solidFill>
          <a:ln cap="flat" cmpd="sng" w="1905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8"/>
          <p:cNvSpPr/>
          <p:nvPr/>
        </p:nvSpPr>
        <p:spPr>
          <a:xfrm>
            <a:off x="2587752" y="804672"/>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2</a:t>
            </a:r>
            <a:endParaRPr b="0" i="0" sz="2000" u="none" cap="none" strike="noStrike">
              <a:solidFill>
                <a:schemeClr val="dk1"/>
              </a:solidFill>
              <a:latin typeface="Calibri"/>
              <a:ea typeface="Calibri"/>
              <a:cs typeface="Calibri"/>
              <a:sym typeface="Calibri"/>
            </a:endParaRPr>
          </a:p>
        </p:txBody>
      </p:sp>
      <p:sp>
        <p:nvSpPr>
          <p:cNvPr id="183" name="Google Shape;183;p8"/>
          <p:cNvSpPr/>
          <p:nvPr/>
        </p:nvSpPr>
        <p:spPr>
          <a:xfrm>
            <a:off x="3575304" y="941832"/>
            <a:ext cx="32004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1800"/>
              <a:buFont typeface="Calibri"/>
              <a:buNone/>
            </a:pPr>
            <a:r>
              <a:rPr b="0" i="0" lang="en-US" sz="1800" u="none" cap="none" strike="noStrike">
                <a:solidFill>
                  <a:srgbClr val="F0C04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84" name="Google Shape;184;p8"/>
          <p:cNvSpPr/>
          <p:nvPr/>
        </p:nvSpPr>
        <p:spPr>
          <a:xfrm>
            <a:off x="2066544" y="1554480"/>
            <a:ext cx="1554480" cy="1371600"/>
          </a:xfrm>
          <a:prstGeom prst="rect">
            <a:avLst/>
          </a:prstGeom>
          <a:solidFill>
            <a:srgbClr val="141B47"/>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8"/>
          <p:cNvSpPr/>
          <p:nvPr/>
        </p:nvSpPr>
        <p:spPr>
          <a:xfrm>
            <a:off x="2139696" y="1609344"/>
            <a:ext cx="1408176"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1200"/>
              <a:buFont typeface="Trebuchet MS"/>
              <a:buNone/>
            </a:pPr>
            <a:r>
              <a:rPr b="1" i="0" lang="en-US" sz="1200" u="none" cap="none" strike="noStrike">
                <a:solidFill>
                  <a:srgbClr val="F0C040"/>
                </a:solidFill>
                <a:latin typeface="Trebuchet MS"/>
                <a:ea typeface="Trebuchet MS"/>
                <a:cs typeface="Trebuchet MS"/>
                <a:sym typeface="Trebuchet MS"/>
              </a:rPr>
              <a:t>Scale Features</a:t>
            </a:r>
            <a:endParaRPr b="0" i="0" sz="1200" u="none" cap="none" strike="noStrike">
              <a:solidFill>
                <a:schemeClr val="dk1"/>
              </a:solidFill>
              <a:latin typeface="Calibri"/>
              <a:ea typeface="Calibri"/>
              <a:cs typeface="Calibri"/>
              <a:sym typeface="Calibri"/>
            </a:endParaRPr>
          </a:p>
        </p:txBody>
      </p:sp>
      <p:sp>
        <p:nvSpPr>
          <p:cNvPr id="186" name="Google Shape;186;p8"/>
          <p:cNvSpPr/>
          <p:nvPr/>
        </p:nvSpPr>
        <p:spPr>
          <a:xfrm>
            <a:off x="2139696" y="1993392"/>
            <a:ext cx="1408176"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StandardScaler</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(inside CV loop)</a:t>
            </a:r>
            <a:endParaRPr b="0" i="0" sz="1100" u="none" cap="none" strike="noStrike">
              <a:solidFill>
                <a:schemeClr val="dk1"/>
              </a:solidFill>
              <a:latin typeface="Calibri"/>
              <a:ea typeface="Calibri"/>
              <a:cs typeface="Calibri"/>
              <a:sym typeface="Calibri"/>
            </a:endParaRPr>
          </a:p>
        </p:txBody>
      </p:sp>
      <p:sp>
        <p:nvSpPr>
          <p:cNvPr id="187" name="Google Shape;187;p8"/>
          <p:cNvSpPr/>
          <p:nvPr/>
        </p:nvSpPr>
        <p:spPr>
          <a:xfrm>
            <a:off x="4306824" y="804672"/>
            <a:ext cx="658368" cy="658368"/>
          </a:xfrm>
          <a:prstGeom prst="ellipse">
            <a:avLst/>
          </a:prstGeom>
          <a:solidFill>
            <a:srgbClr val="4A6FBF"/>
          </a:solidFill>
          <a:ln cap="flat" cmpd="sng" w="1905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8"/>
          <p:cNvSpPr/>
          <p:nvPr/>
        </p:nvSpPr>
        <p:spPr>
          <a:xfrm>
            <a:off x="4306824" y="804672"/>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3</a:t>
            </a:r>
            <a:endParaRPr b="0" i="0" sz="2000" u="none" cap="none" strike="noStrike">
              <a:solidFill>
                <a:schemeClr val="dk1"/>
              </a:solidFill>
              <a:latin typeface="Calibri"/>
              <a:ea typeface="Calibri"/>
              <a:cs typeface="Calibri"/>
              <a:sym typeface="Calibri"/>
            </a:endParaRPr>
          </a:p>
        </p:txBody>
      </p:sp>
      <p:sp>
        <p:nvSpPr>
          <p:cNvPr id="189" name="Google Shape;189;p8"/>
          <p:cNvSpPr/>
          <p:nvPr/>
        </p:nvSpPr>
        <p:spPr>
          <a:xfrm>
            <a:off x="5294376" y="941832"/>
            <a:ext cx="32004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1800"/>
              <a:buFont typeface="Calibri"/>
              <a:buNone/>
            </a:pPr>
            <a:r>
              <a:rPr b="0" i="0" lang="en-US" sz="1800" u="none" cap="none" strike="noStrike">
                <a:solidFill>
                  <a:srgbClr val="F0C04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90" name="Google Shape;190;p8"/>
          <p:cNvSpPr/>
          <p:nvPr/>
        </p:nvSpPr>
        <p:spPr>
          <a:xfrm>
            <a:off x="3785616" y="1554480"/>
            <a:ext cx="1554480" cy="1371600"/>
          </a:xfrm>
          <a:prstGeom prst="rect">
            <a:avLst/>
          </a:prstGeom>
          <a:solidFill>
            <a:srgbClr val="141B47"/>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8"/>
          <p:cNvSpPr/>
          <p:nvPr/>
        </p:nvSpPr>
        <p:spPr>
          <a:xfrm>
            <a:off x="3858768" y="1609344"/>
            <a:ext cx="1408176"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1200"/>
              <a:buFont typeface="Trebuchet MS"/>
              <a:buNone/>
            </a:pPr>
            <a:r>
              <a:rPr b="1" i="0" lang="en-US" sz="1200" u="none" cap="none" strike="noStrike">
                <a:solidFill>
                  <a:srgbClr val="F0C040"/>
                </a:solidFill>
                <a:latin typeface="Trebuchet MS"/>
                <a:ea typeface="Trebuchet MS"/>
                <a:cs typeface="Trebuchet MS"/>
                <a:sym typeface="Trebuchet MS"/>
              </a:rPr>
              <a:t>100-Fold CV</a:t>
            </a:r>
            <a:endParaRPr b="0" i="0" sz="1200" u="none" cap="none" strike="noStrike">
              <a:solidFill>
                <a:schemeClr val="dk1"/>
              </a:solidFill>
              <a:latin typeface="Calibri"/>
              <a:ea typeface="Calibri"/>
              <a:cs typeface="Calibri"/>
              <a:sym typeface="Calibri"/>
            </a:endParaRPr>
          </a:p>
        </p:txBody>
      </p:sp>
      <p:sp>
        <p:nvSpPr>
          <p:cNvPr id="192" name="Google Shape;192;p8"/>
          <p:cNvSpPr/>
          <p:nvPr/>
        </p:nvSpPr>
        <p:spPr>
          <a:xfrm>
            <a:off x="3858768" y="1993392"/>
            <a:ext cx="1408176"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Stable RMSPE</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estimate</a:t>
            </a:r>
            <a:endParaRPr b="0" i="0" sz="1100" u="none" cap="none" strike="noStrike">
              <a:solidFill>
                <a:schemeClr val="dk1"/>
              </a:solidFill>
              <a:latin typeface="Calibri"/>
              <a:ea typeface="Calibri"/>
              <a:cs typeface="Calibri"/>
              <a:sym typeface="Calibri"/>
            </a:endParaRPr>
          </a:p>
        </p:txBody>
      </p:sp>
      <p:sp>
        <p:nvSpPr>
          <p:cNvPr id="193" name="Google Shape;193;p8"/>
          <p:cNvSpPr/>
          <p:nvPr/>
        </p:nvSpPr>
        <p:spPr>
          <a:xfrm>
            <a:off x="6025896" y="804672"/>
            <a:ext cx="658368" cy="658368"/>
          </a:xfrm>
          <a:prstGeom prst="ellipse">
            <a:avLst/>
          </a:prstGeom>
          <a:solidFill>
            <a:srgbClr val="4A6FBF"/>
          </a:solidFill>
          <a:ln cap="flat" cmpd="sng" w="1905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8"/>
          <p:cNvSpPr/>
          <p:nvPr/>
        </p:nvSpPr>
        <p:spPr>
          <a:xfrm>
            <a:off x="6025896" y="804672"/>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4</a:t>
            </a:r>
            <a:endParaRPr b="0" i="0" sz="2000" u="none" cap="none" strike="noStrike">
              <a:solidFill>
                <a:schemeClr val="dk1"/>
              </a:solidFill>
              <a:latin typeface="Calibri"/>
              <a:ea typeface="Calibri"/>
              <a:cs typeface="Calibri"/>
              <a:sym typeface="Calibri"/>
            </a:endParaRPr>
          </a:p>
        </p:txBody>
      </p:sp>
      <p:sp>
        <p:nvSpPr>
          <p:cNvPr id="195" name="Google Shape;195;p8"/>
          <p:cNvSpPr/>
          <p:nvPr/>
        </p:nvSpPr>
        <p:spPr>
          <a:xfrm>
            <a:off x="7013448" y="941832"/>
            <a:ext cx="32004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1800"/>
              <a:buFont typeface="Calibri"/>
              <a:buNone/>
            </a:pPr>
            <a:r>
              <a:rPr b="0" i="0" lang="en-US" sz="1800" u="none" cap="none" strike="noStrike">
                <a:solidFill>
                  <a:srgbClr val="F0C04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96" name="Google Shape;196;p8"/>
          <p:cNvSpPr/>
          <p:nvPr/>
        </p:nvSpPr>
        <p:spPr>
          <a:xfrm>
            <a:off x="5504688" y="1554480"/>
            <a:ext cx="1554480" cy="1371600"/>
          </a:xfrm>
          <a:prstGeom prst="rect">
            <a:avLst/>
          </a:prstGeom>
          <a:solidFill>
            <a:srgbClr val="141B47"/>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8"/>
          <p:cNvSpPr/>
          <p:nvPr/>
        </p:nvSpPr>
        <p:spPr>
          <a:xfrm>
            <a:off x="5577840" y="1609344"/>
            <a:ext cx="1408176"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1200"/>
              <a:buFont typeface="Trebuchet MS"/>
              <a:buNone/>
            </a:pPr>
            <a:r>
              <a:rPr b="1" i="0" lang="en-US" sz="1200" u="none" cap="none" strike="noStrike">
                <a:solidFill>
                  <a:srgbClr val="F0C040"/>
                </a:solidFill>
                <a:latin typeface="Trebuchet MS"/>
                <a:ea typeface="Trebuchet MS"/>
                <a:cs typeface="Trebuchet MS"/>
                <a:sym typeface="Trebuchet MS"/>
              </a:rPr>
              <a:t>3 Models</a:t>
            </a:r>
            <a:endParaRPr b="0" i="0" sz="1200" u="none" cap="none" strike="noStrike">
              <a:solidFill>
                <a:schemeClr val="dk1"/>
              </a:solidFill>
              <a:latin typeface="Calibri"/>
              <a:ea typeface="Calibri"/>
              <a:cs typeface="Calibri"/>
              <a:sym typeface="Calibri"/>
            </a:endParaRPr>
          </a:p>
        </p:txBody>
      </p:sp>
      <p:sp>
        <p:nvSpPr>
          <p:cNvPr id="198" name="Google Shape;198;p8"/>
          <p:cNvSpPr/>
          <p:nvPr/>
        </p:nvSpPr>
        <p:spPr>
          <a:xfrm>
            <a:off x="5577840" y="1993392"/>
            <a:ext cx="1408176"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OLS · Ridge · Lasso</a:t>
            </a:r>
            <a:endParaRPr b="0" i="0" sz="1100" u="none" cap="none" strike="noStrike">
              <a:solidFill>
                <a:schemeClr val="dk1"/>
              </a:solidFill>
              <a:latin typeface="Calibri"/>
              <a:ea typeface="Calibri"/>
              <a:cs typeface="Calibri"/>
              <a:sym typeface="Calibri"/>
            </a:endParaRPr>
          </a:p>
        </p:txBody>
      </p:sp>
      <p:sp>
        <p:nvSpPr>
          <p:cNvPr id="199" name="Google Shape;199;p8"/>
          <p:cNvSpPr/>
          <p:nvPr/>
        </p:nvSpPr>
        <p:spPr>
          <a:xfrm>
            <a:off x="7744968" y="804672"/>
            <a:ext cx="658368" cy="658368"/>
          </a:xfrm>
          <a:prstGeom prst="ellipse">
            <a:avLst/>
          </a:prstGeom>
          <a:solidFill>
            <a:srgbClr val="4A6FBF"/>
          </a:solidFill>
          <a:ln cap="flat" cmpd="sng" w="1905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8"/>
          <p:cNvSpPr/>
          <p:nvPr/>
        </p:nvSpPr>
        <p:spPr>
          <a:xfrm>
            <a:off x="7744968" y="804672"/>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5</a:t>
            </a:r>
            <a:endParaRPr b="0" i="0" sz="2000" u="none" cap="none" strike="noStrike">
              <a:solidFill>
                <a:schemeClr val="dk1"/>
              </a:solidFill>
              <a:latin typeface="Calibri"/>
              <a:ea typeface="Calibri"/>
              <a:cs typeface="Calibri"/>
              <a:sym typeface="Calibri"/>
            </a:endParaRPr>
          </a:p>
        </p:txBody>
      </p:sp>
      <p:sp>
        <p:nvSpPr>
          <p:cNvPr id="201" name="Google Shape;201;p8"/>
          <p:cNvSpPr/>
          <p:nvPr/>
        </p:nvSpPr>
        <p:spPr>
          <a:xfrm>
            <a:off x="7223760" y="1554480"/>
            <a:ext cx="1554480" cy="1371600"/>
          </a:xfrm>
          <a:prstGeom prst="rect">
            <a:avLst/>
          </a:prstGeom>
          <a:solidFill>
            <a:srgbClr val="141B47"/>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8"/>
          <p:cNvSpPr/>
          <p:nvPr/>
        </p:nvSpPr>
        <p:spPr>
          <a:xfrm>
            <a:off x="7296912" y="1609344"/>
            <a:ext cx="1408176"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1200"/>
              <a:buFont typeface="Trebuchet MS"/>
              <a:buNone/>
            </a:pPr>
            <a:r>
              <a:rPr b="1" i="0" lang="en-US" sz="1200" u="none" cap="none" strike="noStrike">
                <a:solidFill>
                  <a:srgbClr val="F0C040"/>
                </a:solidFill>
                <a:latin typeface="Trebuchet MS"/>
                <a:ea typeface="Trebuchet MS"/>
                <a:cs typeface="Trebuchet MS"/>
                <a:sym typeface="Trebuchet MS"/>
              </a:rPr>
              <a:t>Lean Model</a:t>
            </a:r>
            <a:endParaRPr b="0" i="0" sz="1200" u="none" cap="none" strike="noStrike">
              <a:solidFill>
                <a:schemeClr val="dk1"/>
              </a:solidFill>
              <a:latin typeface="Calibri"/>
              <a:ea typeface="Calibri"/>
              <a:cs typeface="Calibri"/>
              <a:sym typeface="Calibri"/>
            </a:endParaRPr>
          </a:p>
        </p:txBody>
      </p:sp>
      <p:sp>
        <p:nvSpPr>
          <p:cNvPr id="203" name="Google Shape;203;p8"/>
          <p:cNvSpPr/>
          <p:nvPr/>
        </p:nvSpPr>
        <p:spPr>
          <a:xfrm>
            <a:off x="7296912" y="1993392"/>
            <a:ext cx="1408176"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Lasso selects</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min features</a:t>
            </a:r>
            <a:endParaRPr b="0" i="0" sz="1100" u="none" cap="none" strike="noStrike">
              <a:solidFill>
                <a:schemeClr val="dk1"/>
              </a:solidFill>
              <a:latin typeface="Calibri"/>
              <a:ea typeface="Calibri"/>
              <a:cs typeface="Calibri"/>
              <a:sym typeface="Calibri"/>
            </a:endParaRPr>
          </a:p>
        </p:txBody>
      </p:sp>
      <p:sp>
        <p:nvSpPr>
          <p:cNvPr id="204" name="Google Shape;204;p8"/>
          <p:cNvSpPr/>
          <p:nvPr/>
        </p:nvSpPr>
        <p:spPr>
          <a:xfrm>
            <a:off x="347472" y="2926080"/>
            <a:ext cx="4206240" cy="1508760"/>
          </a:xfrm>
          <a:prstGeom prst="rect">
            <a:avLst/>
          </a:prstGeom>
          <a:solidFill>
            <a:srgbClr val="141B47"/>
          </a:solidFill>
          <a:ln cap="flat" cmpd="sng" w="19050">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8"/>
          <p:cNvSpPr/>
          <p:nvPr/>
        </p:nvSpPr>
        <p:spPr>
          <a:xfrm>
            <a:off x="502920" y="2926080"/>
            <a:ext cx="3886200" cy="1508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C040"/>
              </a:buClr>
              <a:buSzPts val="1200"/>
              <a:buFont typeface="Calibri"/>
              <a:buNone/>
            </a:pPr>
            <a:r>
              <a:rPr b="1" i="0" lang="en-US" sz="1200" u="none" cap="none" strike="noStrike">
                <a:solidFill>
                  <a:srgbClr val="F0C040"/>
                </a:solidFill>
                <a:latin typeface="Calibri"/>
                <a:ea typeface="Calibri"/>
                <a:cs typeface="Calibri"/>
                <a:sym typeface="Calibri"/>
              </a:rPr>
              <a:t>Why log transform?</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Fitting on log(SalePrice) naturally minimizes proportional errors — converts back with exp() before scoring</a:t>
            </a:r>
            <a:endParaRPr b="0" i="0" sz="1200" u="none" cap="none" strike="noStrike">
              <a:solidFill>
                <a:schemeClr val="dk1"/>
              </a:solidFill>
              <a:latin typeface="Calibri"/>
              <a:ea typeface="Calibri"/>
              <a:cs typeface="Calibri"/>
              <a:sym typeface="Calibri"/>
            </a:endParaRPr>
          </a:p>
        </p:txBody>
      </p:sp>
      <p:sp>
        <p:nvSpPr>
          <p:cNvPr id="206" name="Google Shape;206;p8"/>
          <p:cNvSpPr/>
          <p:nvPr/>
        </p:nvSpPr>
        <p:spPr>
          <a:xfrm>
            <a:off x="4663440" y="2926080"/>
            <a:ext cx="4206240" cy="1508760"/>
          </a:xfrm>
          <a:prstGeom prst="rect">
            <a:avLst/>
          </a:prstGeom>
          <a:solidFill>
            <a:srgbClr val="141B47"/>
          </a:solidFill>
          <a:ln cap="flat" cmpd="sng" w="19050">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8"/>
          <p:cNvSpPr/>
          <p:nvPr/>
        </p:nvSpPr>
        <p:spPr>
          <a:xfrm>
            <a:off x="4818888" y="2926080"/>
            <a:ext cx="3886200" cy="1508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C040"/>
              </a:buClr>
              <a:buSzPts val="1200"/>
              <a:buFont typeface="Calibri"/>
              <a:buNone/>
            </a:pPr>
            <a:r>
              <a:rPr b="1" i="0" lang="en-US" sz="1200" u="none" cap="none" strike="noStrike">
                <a:solidFill>
                  <a:srgbClr val="F0C040"/>
                </a:solidFill>
                <a:latin typeface="Calibri"/>
                <a:ea typeface="Calibri"/>
                <a:cs typeface="Calibri"/>
                <a:sym typeface="Calibri"/>
              </a:rPr>
              <a:t>Why regularization?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263 features after encoding = high overfitting risk. Ridge shrinks all coefficients; Lasso zeros low-signal ones out entirely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212" name="Shape 212"/>
        <p:cNvGrpSpPr/>
        <p:nvPr/>
      </p:nvGrpSpPr>
      <p:grpSpPr>
        <a:xfrm>
          <a:off x="0" y="0"/>
          <a:ext cx="0" cy="0"/>
          <a:chOff x="0" y="0"/>
          <a:chExt cx="0" cy="0"/>
        </a:xfrm>
      </p:grpSpPr>
      <p:sp>
        <p:nvSpPr>
          <p:cNvPr id="213" name="Google Shape;213;p9"/>
          <p:cNvSpPr/>
          <p:nvPr/>
        </p:nvSpPr>
        <p:spPr>
          <a:xfrm>
            <a:off x="0" y="0"/>
            <a:ext cx="9144000" cy="658368"/>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9"/>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Results — RMSPE Comparison</a:t>
            </a:r>
            <a:endParaRPr b="0" i="0" sz="2200" u="none" cap="none" strike="noStrike">
              <a:solidFill>
                <a:schemeClr val="dk1"/>
              </a:solidFill>
              <a:latin typeface="Calibri"/>
              <a:ea typeface="Calibri"/>
              <a:cs typeface="Calibri"/>
              <a:sym typeface="Calibri"/>
            </a:endParaRPr>
          </a:p>
        </p:txBody>
      </p:sp>
      <p:sp>
        <p:nvSpPr>
          <p:cNvPr id="215" name="Google Shape;215;p9"/>
          <p:cNvSpPr/>
          <p:nvPr/>
        </p:nvSpPr>
        <p:spPr>
          <a:xfrm>
            <a:off x="0" y="0"/>
            <a:ext cx="164592" cy="51435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9"/>
          <p:cNvSpPr/>
          <p:nvPr/>
        </p:nvSpPr>
        <p:spPr>
          <a:xfrm>
            <a:off x="0" y="4892040"/>
            <a:ext cx="9144000" cy="25146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9"/>
          <p:cNvSpPr/>
          <p:nvPr/>
        </p:nvSpPr>
        <p:spPr>
          <a:xfrm>
            <a:off x="274320" y="4892040"/>
            <a:ext cx="8595360" cy="2514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DFF0"/>
              </a:buClr>
              <a:buSzPts val="900"/>
              <a:buFont typeface="Calibri"/>
              <a:buNone/>
            </a:pPr>
            <a:r>
              <a:rPr b="0" i="0" lang="en-US" sz="900" u="none" cap="none" strike="noStrike">
                <a:solidFill>
                  <a:srgbClr val="D6DFF0"/>
                </a:solidFill>
                <a:latin typeface="Calibri"/>
                <a:ea typeface="Calibri"/>
                <a:cs typeface="Calibri"/>
                <a:sym typeface="Calibri"/>
              </a:rPr>
              <a:t>Abraham De Vargas  ·  Deep Dive Data Science Cohort-20  ·  04/04/2026  ·  Results</a:t>
            </a:r>
            <a:endParaRPr b="0" i="0" sz="900" u="none" cap="none" strike="noStrike">
              <a:solidFill>
                <a:schemeClr val="dk1"/>
              </a:solidFill>
              <a:latin typeface="Calibri"/>
              <a:ea typeface="Calibri"/>
              <a:cs typeface="Calibri"/>
              <a:sym typeface="Calibri"/>
            </a:endParaRPr>
          </a:p>
        </p:txBody>
      </p:sp>
      <p:sp>
        <p:nvSpPr>
          <p:cNvPr id="218" name="Google Shape;218;p9"/>
          <p:cNvSpPr/>
          <p:nvPr/>
        </p:nvSpPr>
        <p:spPr>
          <a:xfrm>
            <a:off x="347472" y="804672"/>
            <a:ext cx="3657600" cy="4572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9"/>
          <p:cNvSpPr/>
          <p:nvPr/>
        </p:nvSpPr>
        <p:spPr>
          <a:xfrm>
            <a:off x="347472" y="804672"/>
            <a:ext cx="3657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Model</a:t>
            </a:r>
            <a:endParaRPr b="0" i="0" sz="1300" u="none" cap="none" strike="noStrike">
              <a:solidFill>
                <a:schemeClr val="dk1"/>
              </a:solidFill>
              <a:latin typeface="Calibri"/>
              <a:ea typeface="Calibri"/>
              <a:cs typeface="Calibri"/>
              <a:sym typeface="Calibri"/>
            </a:endParaRPr>
          </a:p>
        </p:txBody>
      </p:sp>
      <p:sp>
        <p:nvSpPr>
          <p:cNvPr id="220" name="Google Shape;220;p9"/>
          <p:cNvSpPr/>
          <p:nvPr/>
        </p:nvSpPr>
        <p:spPr>
          <a:xfrm>
            <a:off x="4005072" y="804672"/>
            <a:ext cx="1920240" cy="4572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9"/>
          <p:cNvSpPr/>
          <p:nvPr/>
        </p:nvSpPr>
        <p:spPr>
          <a:xfrm>
            <a:off x="4005072" y="8046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Mean RMSPE</a:t>
            </a:r>
            <a:endParaRPr b="0" i="0" sz="1300" u="none" cap="none" strike="noStrike">
              <a:solidFill>
                <a:schemeClr val="dk1"/>
              </a:solidFill>
              <a:latin typeface="Calibri"/>
              <a:ea typeface="Calibri"/>
              <a:cs typeface="Calibri"/>
              <a:sym typeface="Calibri"/>
            </a:endParaRPr>
          </a:p>
        </p:txBody>
      </p:sp>
      <p:sp>
        <p:nvSpPr>
          <p:cNvPr id="222" name="Google Shape;222;p9"/>
          <p:cNvSpPr/>
          <p:nvPr/>
        </p:nvSpPr>
        <p:spPr>
          <a:xfrm>
            <a:off x="5925312" y="804672"/>
            <a:ext cx="1645920" cy="4572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9"/>
          <p:cNvSpPr/>
          <p:nvPr/>
        </p:nvSpPr>
        <p:spPr>
          <a:xfrm>
            <a:off x="5925312" y="804672"/>
            <a:ext cx="16459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Features</a:t>
            </a:r>
            <a:endParaRPr b="0" i="0" sz="1300" u="none" cap="none" strike="noStrike">
              <a:solidFill>
                <a:schemeClr val="dk1"/>
              </a:solidFill>
              <a:latin typeface="Calibri"/>
              <a:ea typeface="Calibri"/>
              <a:cs typeface="Calibri"/>
              <a:sym typeface="Calibri"/>
            </a:endParaRPr>
          </a:p>
        </p:txBody>
      </p:sp>
      <p:sp>
        <p:nvSpPr>
          <p:cNvPr id="224" name="Google Shape;224;p9"/>
          <p:cNvSpPr/>
          <p:nvPr/>
        </p:nvSpPr>
        <p:spPr>
          <a:xfrm>
            <a:off x="347472" y="1261872"/>
            <a:ext cx="3657600" cy="457200"/>
          </a:xfrm>
          <a:prstGeom prst="rect">
            <a:avLst/>
          </a:prstGeom>
          <a:solidFill>
            <a:srgbClr val="F4F6FC"/>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9"/>
          <p:cNvSpPr/>
          <p:nvPr/>
        </p:nvSpPr>
        <p:spPr>
          <a:xfrm>
            <a:off x="347472" y="1261872"/>
            <a:ext cx="3657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1B47"/>
              </a:buClr>
              <a:buSzPts val="1300"/>
              <a:buFont typeface="Calibri"/>
              <a:buNone/>
            </a:pPr>
            <a:r>
              <a:rPr b="0" i="0" lang="en-US" sz="1300" u="none" cap="none" strike="noStrike">
                <a:solidFill>
                  <a:srgbClr val="141B47"/>
                </a:solidFill>
                <a:latin typeface="Calibri"/>
                <a:ea typeface="Calibri"/>
                <a:cs typeface="Calibri"/>
                <a:sym typeface="Calibri"/>
              </a:rPr>
              <a:t>Linear Regression</a:t>
            </a:r>
            <a:endParaRPr b="0" i="0" sz="1300" u="none" cap="none" strike="noStrike">
              <a:solidFill>
                <a:schemeClr val="dk1"/>
              </a:solidFill>
              <a:latin typeface="Calibri"/>
              <a:ea typeface="Calibri"/>
              <a:cs typeface="Calibri"/>
              <a:sym typeface="Calibri"/>
            </a:endParaRPr>
          </a:p>
        </p:txBody>
      </p:sp>
      <p:sp>
        <p:nvSpPr>
          <p:cNvPr id="226" name="Google Shape;226;p9"/>
          <p:cNvSpPr/>
          <p:nvPr/>
        </p:nvSpPr>
        <p:spPr>
          <a:xfrm>
            <a:off x="4005072" y="1261872"/>
            <a:ext cx="1920240" cy="457200"/>
          </a:xfrm>
          <a:prstGeom prst="rect">
            <a:avLst/>
          </a:prstGeom>
          <a:solidFill>
            <a:srgbClr val="F4F6FC"/>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9"/>
          <p:cNvSpPr/>
          <p:nvPr/>
        </p:nvSpPr>
        <p:spPr>
          <a:xfrm>
            <a:off x="4005072" y="12618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1B47"/>
              </a:buClr>
              <a:buSzPts val="1300"/>
              <a:buFont typeface="Calibri"/>
              <a:buNone/>
            </a:pPr>
            <a:r>
              <a:rPr b="0" i="0" lang="en-US" sz="1300" u="none" cap="none" strike="noStrike">
                <a:solidFill>
                  <a:srgbClr val="141B47"/>
                </a:solidFill>
                <a:latin typeface="Calibri"/>
                <a:ea typeface="Calibri"/>
                <a:cs typeface="Calibri"/>
                <a:sym typeface="Calibri"/>
              </a:rPr>
              <a:t>0.1619</a:t>
            </a:r>
            <a:endParaRPr b="0" i="0" sz="1300" u="none" cap="none" strike="noStrike">
              <a:solidFill>
                <a:schemeClr val="dk1"/>
              </a:solidFill>
              <a:latin typeface="Calibri"/>
              <a:ea typeface="Calibri"/>
              <a:cs typeface="Calibri"/>
              <a:sym typeface="Calibri"/>
            </a:endParaRPr>
          </a:p>
        </p:txBody>
      </p:sp>
      <p:sp>
        <p:nvSpPr>
          <p:cNvPr id="228" name="Google Shape;228;p9"/>
          <p:cNvSpPr/>
          <p:nvPr/>
        </p:nvSpPr>
        <p:spPr>
          <a:xfrm>
            <a:off x="5925312" y="1261872"/>
            <a:ext cx="1645920" cy="457200"/>
          </a:xfrm>
          <a:prstGeom prst="rect">
            <a:avLst/>
          </a:prstGeom>
          <a:solidFill>
            <a:srgbClr val="F4F6FC"/>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9"/>
          <p:cNvSpPr/>
          <p:nvPr/>
        </p:nvSpPr>
        <p:spPr>
          <a:xfrm>
            <a:off x="5925312" y="1261872"/>
            <a:ext cx="16459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1B47"/>
              </a:buClr>
              <a:buSzPts val="1300"/>
              <a:buFont typeface="Calibri"/>
              <a:buNone/>
            </a:pPr>
            <a:r>
              <a:rPr b="0" i="0" lang="en-US" sz="1300" u="none" cap="none" strike="noStrike">
                <a:solidFill>
                  <a:srgbClr val="141B47"/>
                </a:solidFill>
                <a:latin typeface="Calibri"/>
                <a:ea typeface="Calibri"/>
                <a:cs typeface="Calibri"/>
                <a:sym typeface="Calibri"/>
              </a:rPr>
              <a:t>262</a:t>
            </a:r>
            <a:endParaRPr b="0" i="0" sz="1300" u="none" cap="none" strike="noStrike">
              <a:solidFill>
                <a:schemeClr val="dk1"/>
              </a:solidFill>
              <a:latin typeface="Calibri"/>
              <a:ea typeface="Calibri"/>
              <a:cs typeface="Calibri"/>
              <a:sym typeface="Calibri"/>
            </a:endParaRPr>
          </a:p>
        </p:txBody>
      </p:sp>
      <p:sp>
        <p:nvSpPr>
          <p:cNvPr id="230" name="Google Shape;230;p9"/>
          <p:cNvSpPr/>
          <p:nvPr/>
        </p:nvSpPr>
        <p:spPr>
          <a:xfrm>
            <a:off x="347472" y="1719072"/>
            <a:ext cx="3657600" cy="457200"/>
          </a:xfrm>
          <a:prstGeom prst="rect">
            <a:avLst/>
          </a:prstGeom>
          <a:solidFill>
            <a:srgbClr val="E2E9F8"/>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9"/>
          <p:cNvSpPr/>
          <p:nvPr/>
        </p:nvSpPr>
        <p:spPr>
          <a:xfrm>
            <a:off x="347472" y="1719072"/>
            <a:ext cx="3657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1B47"/>
              </a:buClr>
              <a:buSzPts val="1300"/>
              <a:buFont typeface="Calibri"/>
              <a:buNone/>
            </a:pPr>
            <a:r>
              <a:rPr b="0" i="0" lang="en-US" sz="1300" u="none" cap="none" strike="noStrike">
                <a:solidFill>
                  <a:srgbClr val="141B47"/>
                </a:solidFill>
                <a:latin typeface="Calibri"/>
                <a:ea typeface="Calibri"/>
                <a:cs typeface="Calibri"/>
                <a:sym typeface="Calibri"/>
              </a:rPr>
              <a:t>Ridge (alpha=10)</a:t>
            </a:r>
            <a:endParaRPr b="0" i="0" sz="1300" u="none" cap="none" strike="noStrike">
              <a:solidFill>
                <a:schemeClr val="dk1"/>
              </a:solidFill>
              <a:latin typeface="Calibri"/>
              <a:ea typeface="Calibri"/>
              <a:cs typeface="Calibri"/>
              <a:sym typeface="Calibri"/>
            </a:endParaRPr>
          </a:p>
        </p:txBody>
      </p:sp>
      <p:sp>
        <p:nvSpPr>
          <p:cNvPr id="232" name="Google Shape;232;p9"/>
          <p:cNvSpPr/>
          <p:nvPr/>
        </p:nvSpPr>
        <p:spPr>
          <a:xfrm>
            <a:off x="4005072" y="1719072"/>
            <a:ext cx="1920240" cy="457200"/>
          </a:xfrm>
          <a:prstGeom prst="rect">
            <a:avLst/>
          </a:prstGeom>
          <a:solidFill>
            <a:srgbClr val="E2E9F8"/>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9"/>
          <p:cNvSpPr/>
          <p:nvPr/>
        </p:nvSpPr>
        <p:spPr>
          <a:xfrm>
            <a:off x="4005072" y="17190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1B47"/>
              </a:buClr>
              <a:buSzPts val="1300"/>
              <a:buFont typeface="Calibri"/>
              <a:buNone/>
            </a:pPr>
            <a:r>
              <a:rPr b="0" i="0" lang="en-US" sz="1300" u="none" cap="none" strike="noStrike">
                <a:solidFill>
                  <a:srgbClr val="141B47"/>
                </a:solidFill>
                <a:latin typeface="Calibri"/>
                <a:ea typeface="Calibri"/>
                <a:cs typeface="Calibri"/>
                <a:sym typeface="Calibri"/>
              </a:rPr>
              <a:t>0.1503</a:t>
            </a:r>
            <a:endParaRPr b="0" i="0" sz="1300" u="none" cap="none" strike="noStrike">
              <a:solidFill>
                <a:schemeClr val="dk1"/>
              </a:solidFill>
              <a:latin typeface="Calibri"/>
              <a:ea typeface="Calibri"/>
              <a:cs typeface="Calibri"/>
              <a:sym typeface="Calibri"/>
            </a:endParaRPr>
          </a:p>
        </p:txBody>
      </p:sp>
      <p:sp>
        <p:nvSpPr>
          <p:cNvPr id="234" name="Google Shape;234;p9"/>
          <p:cNvSpPr/>
          <p:nvPr/>
        </p:nvSpPr>
        <p:spPr>
          <a:xfrm>
            <a:off x="5925312" y="1719072"/>
            <a:ext cx="1645920" cy="457200"/>
          </a:xfrm>
          <a:prstGeom prst="rect">
            <a:avLst/>
          </a:prstGeom>
          <a:solidFill>
            <a:srgbClr val="E2E9F8"/>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9"/>
          <p:cNvSpPr/>
          <p:nvPr/>
        </p:nvSpPr>
        <p:spPr>
          <a:xfrm>
            <a:off x="5925312" y="1719072"/>
            <a:ext cx="16459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1B47"/>
              </a:buClr>
              <a:buSzPts val="1300"/>
              <a:buFont typeface="Calibri"/>
              <a:buNone/>
            </a:pPr>
            <a:r>
              <a:rPr b="0" i="0" lang="en-US" sz="1300" u="none" cap="none" strike="noStrike">
                <a:solidFill>
                  <a:srgbClr val="141B47"/>
                </a:solidFill>
                <a:latin typeface="Calibri"/>
                <a:ea typeface="Calibri"/>
                <a:cs typeface="Calibri"/>
                <a:sym typeface="Calibri"/>
              </a:rPr>
              <a:t>262</a:t>
            </a:r>
            <a:endParaRPr b="0" i="0" sz="1300" u="none" cap="none" strike="noStrike">
              <a:solidFill>
                <a:schemeClr val="dk1"/>
              </a:solidFill>
              <a:latin typeface="Calibri"/>
              <a:ea typeface="Calibri"/>
              <a:cs typeface="Calibri"/>
              <a:sym typeface="Calibri"/>
            </a:endParaRPr>
          </a:p>
        </p:txBody>
      </p:sp>
      <p:sp>
        <p:nvSpPr>
          <p:cNvPr id="236" name="Google Shape;236;p9"/>
          <p:cNvSpPr/>
          <p:nvPr/>
        </p:nvSpPr>
        <p:spPr>
          <a:xfrm>
            <a:off x="347472" y="2176272"/>
            <a:ext cx="3657600" cy="457200"/>
          </a:xfrm>
          <a:prstGeom prst="rect">
            <a:avLst/>
          </a:prstGeom>
          <a:solidFill>
            <a:srgbClr val="F4F6FC"/>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9"/>
          <p:cNvSpPr/>
          <p:nvPr/>
        </p:nvSpPr>
        <p:spPr>
          <a:xfrm>
            <a:off x="347472" y="2176272"/>
            <a:ext cx="3657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1B47"/>
              </a:buClr>
              <a:buSzPts val="1300"/>
              <a:buFont typeface="Calibri"/>
              <a:buNone/>
            </a:pPr>
            <a:r>
              <a:rPr b="0" i="0" lang="en-US" sz="1300" u="none" cap="none" strike="noStrike">
                <a:solidFill>
                  <a:srgbClr val="141B47"/>
                </a:solidFill>
                <a:latin typeface="Calibri"/>
                <a:ea typeface="Calibri"/>
                <a:cs typeface="Calibri"/>
                <a:sym typeface="Calibri"/>
              </a:rPr>
              <a:t>Lasso (alpha=0.001)</a:t>
            </a:r>
            <a:endParaRPr b="0" i="0" sz="1300" u="none" cap="none" strike="noStrike">
              <a:solidFill>
                <a:schemeClr val="dk1"/>
              </a:solidFill>
              <a:latin typeface="Calibri"/>
              <a:ea typeface="Calibri"/>
              <a:cs typeface="Calibri"/>
              <a:sym typeface="Calibri"/>
            </a:endParaRPr>
          </a:p>
        </p:txBody>
      </p:sp>
      <p:sp>
        <p:nvSpPr>
          <p:cNvPr id="238" name="Google Shape;238;p9"/>
          <p:cNvSpPr/>
          <p:nvPr/>
        </p:nvSpPr>
        <p:spPr>
          <a:xfrm>
            <a:off x="4005072" y="2176272"/>
            <a:ext cx="1920240" cy="457200"/>
          </a:xfrm>
          <a:prstGeom prst="rect">
            <a:avLst/>
          </a:prstGeom>
          <a:solidFill>
            <a:srgbClr val="F4F6FC"/>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9"/>
          <p:cNvSpPr/>
          <p:nvPr/>
        </p:nvSpPr>
        <p:spPr>
          <a:xfrm>
            <a:off x="4005072" y="21762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1B47"/>
              </a:buClr>
              <a:buSzPts val="1300"/>
              <a:buFont typeface="Calibri"/>
              <a:buNone/>
            </a:pPr>
            <a:r>
              <a:rPr b="0" i="0" lang="en-US" sz="1300" u="none" cap="none" strike="noStrike">
                <a:solidFill>
                  <a:srgbClr val="141B47"/>
                </a:solidFill>
                <a:latin typeface="Calibri"/>
                <a:ea typeface="Calibri"/>
                <a:cs typeface="Calibri"/>
                <a:sym typeface="Calibri"/>
              </a:rPr>
              <a:t>0.1485</a:t>
            </a:r>
            <a:endParaRPr b="0" i="0" sz="1300" u="none" cap="none" strike="noStrike">
              <a:solidFill>
                <a:schemeClr val="dk1"/>
              </a:solidFill>
              <a:latin typeface="Calibri"/>
              <a:ea typeface="Calibri"/>
              <a:cs typeface="Calibri"/>
              <a:sym typeface="Calibri"/>
            </a:endParaRPr>
          </a:p>
        </p:txBody>
      </p:sp>
      <p:sp>
        <p:nvSpPr>
          <p:cNvPr id="240" name="Google Shape;240;p9"/>
          <p:cNvSpPr/>
          <p:nvPr/>
        </p:nvSpPr>
        <p:spPr>
          <a:xfrm>
            <a:off x="5925312" y="2176272"/>
            <a:ext cx="1645920" cy="457200"/>
          </a:xfrm>
          <a:prstGeom prst="rect">
            <a:avLst/>
          </a:prstGeom>
          <a:solidFill>
            <a:srgbClr val="F4F6FC"/>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9"/>
          <p:cNvSpPr/>
          <p:nvPr/>
        </p:nvSpPr>
        <p:spPr>
          <a:xfrm>
            <a:off x="5925312" y="2176272"/>
            <a:ext cx="16459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1B47"/>
              </a:buClr>
              <a:buSzPts val="1300"/>
              <a:buFont typeface="Calibri"/>
              <a:buNone/>
            </a:pPr>
            <a:r>
              <a:rPr b="0" i="0" lang="en-US" sz="1300" u="none" cap="none" strike="noStrike">
                <a:solidFill>
                  <a:srgbClr val="141B47"/>
                </a:solidFill>
                <a:latin typeface="Calibri"/>
                <a:ea typeface="Calibri"/>
                <a:cs typeface="Calibri"/>
                <a:sym typeface="Calibri"/>
              </a:rPr>
              <a:t>262</a:t>
            </a:r>
            <a:endParaRPr b="0" i="0" sz="1300" u="none" cap="none" strike="noStrike">
              <a:solidFill>
                <a:schemeClr val="dk1"/>
              </a:solidFill>
              <a:latin typeface="Calibri"/>
              <a:ea typeface="Calibri"/>
              <a:cs typeface="Calibri"/>
              <a:sym typeface="Calibri"/>
            </a:endParaRPr>
          </a:p>
        </p:txBody>
      </p:sp>
      <p:sp>
        <p:nvSpPr>
          <p:cNvPr id="242" name="Google Shape;242;p9"/>
          <p:cNvSpPr/>
          <p:nvPr/>
        </p:nvSpPr>
        <p:spPr>
          <a:xfrm>
            <a:off x="347472" y="2633472"/>
            <a:ext cx="3657600" cy="457200"/>
          </a:xfrm>
          <a:prstGeom prst="rect">
            <a:avLst/>
          </a:prstGeom>
          <a:solidFill>
            <a:srgbClr val="4A6FBF"/>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9"/>
          <p:cNvSpPr/>
          <p:nvPr/>
        </p:nvSpPr>
        <p:spPr>
          <a:xfrm>
            <a:off x="347472" y="2633472"/>
            <a:ext cx="3657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Lean Ridge (recommended)</a:t>
            </a:r>
            <a:endParaRPr b="0" i="0" sz="1300" u="none" cap="none" strike="noStrike">
              <a:solidFill>
                <a:schemeClr val="dk1"/>
              </a:solidFill>
              <a:latin typeface="Calibri"/>
              <a:ea typeface="Calibri"/>
              <a:cs typeface="Calibri"/>
              <a:sym typeface="Calibri"/>
            </a:endParaRPr>
          </a:p>
        </p:txBody>
      </p:sp>
      <p:sp>
        <p:nvSpPr>
          <p:cNvPr id="244" name="Google Shape;244;p9"/>
          <p:cNvSpPr/>
          <p:nvPr/>
        </p:nvSpPr>
        <p:spPr>
          <a:xfrm>
            <a:off x="4005072" y="2633472"/>
            <a:ext cx="1920240" cy="457200"/>
          </a:xfrm>
          <a:prstGeom prst="rect">
            <a:avLst/>
          </a:prstGeom>
          <a:solidFill>
            <a:srgbClr val="4A6FBF"/>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9"/>
          <p:cNvSpPr/>
          <p:nvPr/>
        </p:nvSpPr>
        <p:spPr>
          <a:xfrm>
            <a:off x="4005072" y="26334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0.1451</a:t>
            </a:r>
            <a:endParaRPr b="0" i="0" sz="1300" u="none" cap="none" strike="noStrike">
              <a:solidFill>
                <a:schemeClr val="dk1"/>
              </a:solidFill>
              <a:latin typeface="Calibri"/>
              <a:ea typeface="Calibri"/>
              <a:cs typeface="Calibri"/>
              <a:sym typeface="Calibri"/>
            </a:endParaRPr>
          </a:p>
        </p:txBody>
      </p:sp>
      <p:sp>
        <p:nvSpPr>
          <p:cNvPr id="246" name="Google Shape;246;p9"/>
          <p:cNvSpPr/>
          <p:nvPr/>
        </p:nvSpPr>
        <p:spPr>
          <a:xfrm>
            <a:off x="5925312" y="2633472"/>
            <a:ext cx="1645920" cy="457200"/>
          </a:xfrm>
          <a:prstGeom prst="rect">
            <a:avLst/>
          </a:prstGeom>
          <a:solidFill>
            <a:srgbClr val="4A6FBF"/>
          </a:solidFill>
          <a:ln cap="flat" cmpd="sng" w="9525">
            <a:solidFill>
              <a:srgbClr val="D6DF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9"/>
          <p:cNvSpPr/>
          <p:nvPr/>
        </p:nvSpPr>
        <p:spPr>
          <a:xfrm>
            <a:off x="5925312" y="2633472"/>
            <a:ext cx="16459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177</a:t>
            </a:r>
            <a:endParaRPr b="0" i="0" sz="1300" u="none" cap="none" strike="noStrike">
              <a:solidFill>
                <a:schemeClr val="dk1"/>
              </a:solidFill>
              <a:latin typeface="Calibri"/>
              <a:ea typeface="Calibri"/>
              <a:cs typeface="Calibri"/>
              <a:sym typeface="Calibri"/>
            </a:endParaRPr>
          </a:p>
        </p:txBody>
      </p:sp>
      <p:sp>
        <p:nvSpPr>
          <p:cNvPr id="248" name="Google Shape;248;p9"/>
          <p:cNvSpPr/>
          <p:nvPr/>
        </p:nvSpPr>
        <p:spPr>
          <a:xfrm>
            <a:off x="5989320" y="804672"/>
            <a:ext cx="1554480" cy="1325880"/>
          </a:xfrm>
          <a:prstGeom prst="rect">
            <a:avLst/>
          </a:prstGeom>
          <a:solidFill>
            <a:srgbClr val="141B47"/>
          </a:solidFill>
          <a:ln cap="flat" cmpd="sng" w="25400">
            <a:solidFill>
              <a:srgbClr val="F0C04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9"/>
          <p:cNvSpPr/>
          <p:nvPr/>
        </p:nvSpPr>
        <p:spPr>
          <a:xfrm>
            <a:off x="6035040" y="877824"/>
            <a:ext cx="1463040" cy="7159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C040"/>
              </a:buClr>
              <a:buSzPts val="2400"/>
              <a:buFont typeface="Trebuchet MS"/>
              <a:buNone/>
            </a:pPr>
            <a:r>
              <a:rPr b="1" i="0" lang="en-US" sz="2400" u="none" cap="none" strike="noStrike">
                <a:solidFill>
                  <a:srgbClr val="F0C040"/>
                </a:solidFill>
                <a:latin typeface="Trebuchet MS"/>
                <a:ea typeface="Trebuchet MS"/>
                <a:cs typeface="Trebuchet MS"/>
                <a:sym typeface="Trebuchet MS"/>
              </a:rPr>
              <a:t>0.1451</a:t>
            </a:r>
            <a:endParaRPr b="0" i="0" sz="2400" u="none" cap="none" strike="noStrike">
              <a:solidFill>
                <a:schemeClr val="dk1"/>
              </a:solidFill>
              <a:latin typeface="Calibri"/>
              <a:ea typeface="Calibri"/>
              <a:cs typeface="Calibri"/>
              <a:sym typeface="Calibri"/>
            </a:endParaRPr>
          </a:p>
        </p:txBody>
      </p:sp>
      <p:sp>
        <p:nvSpPr>
          <p:cNvPr id="250" name="Google Shape;250;p9"/>
          <p:cNvSpPr/>
          <p:nvPr/>
        </p:nvSpPr>
        <p:spPr>
          <a:xfrm>
            <a:off x="6035040" y="1600200"/>
            <a:ext cx="1463040" cy="50383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Lean Ridge RMSPE</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Best Model</a:t>
            </a:r>
            <a:endParaRPr b="0" i="0" sz="1050" u="none" cap="none" strike="noStrike">
              <a:solidFill>
                <a:schemeClr val="dk1"/>
              </a:solidFill>
              <a:latin typeface="Calibri"/>
              <a:ea typeface="Calibri"/>
              <a:cs typeface="Calibri"/>
              <a:sym typeface="Calibri"/>
            </a:endParaRPr>
          </a:p>
        </p:txBody>
      </p:sp>
      <p:sp>
        <p:nvSpPr>
          <p:cNvPr id="251" name="Google Shape;251;p9"/>
          <p:cNvSpPr/>
          <p:nvPr/>
        </p:nvSpPr>
        <p:spPr>
          <a:xfrm>
            <a:off x="7589520" y="804672"/>
            <a:ext cx="1417320" cy="1325880"/>
          </a:xfrm>
          <a:prstGeom prst="rect">
            <a:avLst/>
          </a:prstGeom>
          <a:solidFill>
            <a:srgbClr val="141B47"/>
          </a:solidFill>
          <a:ln cap="flat" cmpd="sng" w="25400">
            <a:solidFill>
              <a:srgbClr val="CADCFC"/>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9"/>
          <p:cNvSpPr/>
          <p:nvPr/>
        </p:nvSpPr>
        <p:spPr>
          <a:xfrm>
            <a:off x="7635240" y="877824"/>
            <a:ext cx="1325880" cy="7159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2000"/>
              <a:buFont typeface="Trebuchet MS"/>
              <a:buNone/>
            </a:pPr>
            <a:r>
              <a:rPr b="1" i="0" lang="en-US" sz="2000" u="none" cap="none" strike="noStrike">
                <a:solidFill>
                  <a:srgbClr val="CADCFC"/>
                </a:solidFill>
                <a:latin typeface="Trebuchet MS"/>
                <a:ea typeface="Trebuchet MS"/>
                <a:cs typeface="Trebuchet MS"/>
                <a:sym typeface="Trebuchet MS"/>
              </a:rPr>
              <a:t>177/262</a:t>
            </a:r>
            <a:endParaRPr b="0" i="0" sz="2000" u="none" cap="none" strike="noStrike">
              <a:solidFill>
                <a:schemeClr val="dk1"/>
              </a:solidFill>
              <a:latin typeface="Calibri"/>
              <a:ea typeface="Calibri"/>
              <a:cs typeface="Calibri"/>
              <a:sym typeface="Calibri"/>
            </a:endParaRPr>
          </a:p>
        </p:txBody>
      </p:sp>
      <p:sp>
        <p:nvSpPr>
          <p:cNvPr id="253" name="Google Shape;253;p9"/>
          <p:cNvSpPr/>
          <p:nvPr/>
        </p:nvSpPr>
        <p:spPr>
          <a:xfrm>
            <a:off x="7635240" y="1600200"/>
            <a:ext cx="1325880" cy="50383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features used</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85 dropped</a:t>
            </a:r>
            <a:endParaRPr b="0" i="0" sz="1050" u="none" cap="none" strike="noStrike">
              <a:solidFill>
                <a:schemeClr val="dk1"/>
              </a:solidFill>
              <a:latin typeface="Calibri"/>
              <a:ea typeface="Calibri"/>
              <a:cs typeface="Calibri"/>
              <a:sym typeface="Calibri"/>
            </a:endParaRPr>
          </a:p>
        </p:txBody>
      </p:sp>
      <p:sp>
        <p:nvSpPr>
          <p:cNvPr id="254" name="Google Shape;254;p9"/>
          <p:cNvSpPr/>
          <p:nvPr/>
        </p:nvSpPr>
        <p:spPr>
          <a:xfrm>
            <a:off x="5989320" y="2267712"/>
            <a:ext cx="3017520" cy="1325880"/>
          </a:xfrm>
          <a:prstGeom prst="rect">
            <a:avLst/>
          </a:prstGeom>
          <a:solidFill>
            <a:srgbClr val="141B47"/>
          </a:solidFill>
          <a:ln cap="flat" cmpd="sng" w="25400">
            <a:solidFill>
              <a:srgbClr val="2ECC71"/>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9"/>
          <p:cNvSpPr/>
          <p:nvPr/>
        </p:nvSpPr>
        <p:spPr>
          <a:xfrm>
            <a:off x="6035040" y="2340864"/>
            <a:ext cx="2926080" cy="7159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CC71"/>
              </a:buClr>
              <a:buSzPts val="2000"/>
              <a:buFont typeface="Trebuchet MS"/>
              <a:buNone/>
            </a:pPr>
            <a:r>
              <a:rPr b="1" i="0" lang="en-US" sz="2000" u="none" cap="none" strike="noStrike">
                <a:solidFill>
                  <a:srgbClr val="2ECC71"/>
                </a:solidFill>
                <a:latin typeface="Trebuchet MS"/>
                <a:ea typeface="Trebuchet MS"/>
                <a:cs typeface="Trebuchet MS"/>
                <a:sym typeface="Trebuchet MS"/>
              </a:rPr>
              <a:t>$19,360</a:t>
            </a:r>
            <a:endParaRPr b="0" i="0" sz="2000" u="none" cap="none" strike="noStrike">
              <a:solidFill>
                <a:schemeClr val="dk1"/>
              </a:solidFill>
              <a:latin typeface="Calibri"/>
              <a:ea typeface="Calibri"/>
              <a:cs typeface="Calibri"/>
              <a:sym typeface="Calibri"/>
            </a:endParaRPr>
          </a:p>
        </p:txBody>
      </p:sp>
      <p:sp>
        <p:nvSpPr>
          <p:cNvPr id="256" name="Google Shape;256;p9"/>
          <p:cNvSpPr/>
          <p:nvPr/>
        </p:nvSpPr>
        <p:spPr>
          <a:xfrm>
            <a:off x="6035040" y="3063240"/>
            <a:ext cx="2926080" cy="50383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avg $ error (RMSE)</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on held-out test set</a:t>
            </a:r>
            <a:endParaRPr b="0" i="0" sz="1050" u="none" cap="none" strike="noStrike">
              <a:solidFill>
                <a:schemeClr val="dk1"/>
              </a:solidFill>
              <a:latin typeface="Calibri"/>
              <a:ea typeface="Calibri"/>
              <a:cs typeface="Calibri"/>
              <a:sym typeface="Calibri"/>
            </a:endParaRPr>
          </a:p>
        </p:txBody>
      </p:sp>
      <p:sp>
        <p:nvSpPr>
          <p:cNvPr id="257" name="Google Shape;257;p9"/>
          <p:cNvSpPr/>
          <p:nvPr/>
        </p:nvSpPr>
        <p:spPr>
          <a:xfrm>
            <a:off x="347472" y="3429000"/>
            <a:ext cx="8503920" cy="914400"/>
          </a:xfrm>
          <a:prstGeom prst="rect">
            <a:avLst/>
          </a:prstGeom>
          <a:solidFill>
            <a:srgbClr val="141B47"/>
          </a:solidFill>
          <a:ln cap="flat" cmpd="sng" w="19050">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9"/>
          <p:cNvSpPr/>
          <p:nvPr/>
        </p:nvSpPr>
        <p:spPr>
          <a:xfrm>
            <a:off x="502920" y="3429000"/>
            <a:ext cx="8229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C040"/>
              </a:buClr>
              <a:buSzPts val="1200"/>
              <a:buFont typeface="Calibri"/>
              <a:buNone/>
            </a:pPr>
            <a:r>
              <a:rPr b="1" i="0" lang="en-US" sz="1200" u="none" cap="none" strike="noStrike">
                <a:solidFill>
                  <a:srgbClr val="F0C040"/>
                </a:solidFill>
                <a:latin typeface="Calibri"/>
                <a:ea typeface="Calibri"/>
                <a:cs typeface="Calibri"/>
                <a:sym typeface="Calibri"/>
              </a:rPr>
              <a:t>Key Finding: </a:t>
            </a:r>
            <a:r>
              <a:rPr b="0" i="0" lang="en-US" sz="1200" u="none" cap="none" strike="noStrike">
                <a:solidFill>
                  <a:srgbClr val="CADCFC"/>
                </a:solidFill>
                <a:latin typeface="Calibri"/>
                <a:ea typeface="Calibri"/>
                <a:cs typeface="Calibri"/>
                <a:sym typeface="Calibri"/>
              </a:rPr>
              <a:t>The Lean Ridge model — using only Lasso-selected features — outperformed all full-feature models. Dropping 85 low-signal features improved RMSPE from 0.1503 → 0.1451 (~14.5% avg error), directly meeting the project goal of a minimum feature set that does the job.</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263" name="Shape 263"/>
        <p:cNvGrpSpPr/>
        <p:nvPr/>
      </p:nvGrpSpPr>
      <p:grpSpPr>
        <a:xfrm>
          <a:off x="0" y="0"/>
          <a:ext cx="0" cy="0"/>
          <a:chOff x="0" y="0"/>
          <a:chExt cx="0" cy="0"/>
        </a:xfrm>
      </p:grpSpPr>
      <p:sp>
        <p:nvSpPr>
          <p:cNvPr id="264" name="Google Shape;264;p10"/>
          <p:cNvSpPr/>
          <p:nvPr/>
        </p:nvSpPr>
        <p:spPr>
          <a:xfrm>
            <a:off x="0" y="0"/>
            <a:ext cx="9144000" cy="658368"/>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0"/>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Model Diagnostics</a:t>
            </a:r>
            <a:endParaRPr b="0" i="0" sz="2200" u="none" cap="none" strike="noStrike">
              <a:solidFill>
                <a:schemeClr val="dk1"/>
              </a:solidFill>
              <a:latin typeface="Calibri"/>
              <a:ea typeface="Calibri"/>
              <a:cs typeface="Calibri"/>
              <a:sym typeface="Calibri"/>
            </a:endParaRPr>
          </a:p>
        </p:txBody>
      </p:sp>
      <p:sp>
        <p:nvSpPr>
          <p:cNvPr id="266" name="Google Shape;266;p10"/>
          <p:cNvSpPr/>
          <p:nvPr/>
        </p:nvSpPr>
        <p:spPr>
          <a:xfrm>
            <a:off x="0" y="0"/>
            <a:ext cx="164592" cy="51435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0"/>
          <p:cNvSpPr/>
          <p:nvPr/>
        </p:nvSpPr>
        <p:spPr>
          <a:xfrm>
            <a:off x="0" y="4892040"/>
            <a:ext cx="9144000" cy="25146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0"/>
          <p:cNvSpPr/>
          <p:nvPr/>
        </p:nvSpPr>
        <p:spPr>
          <a:xfrm>
            <a:off x="274320" y="4892040"/>
            <a:ext cx="8595360" cy="2514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DFF0"/>
              </a:buClr>
              <a:buSzPts val="900"/>
              <a:buFont typeface="Calibri"/>
              <a:buNone/>
            </a:pPr>
            <a:r>
              <a:rPr b="0" i="0" lang="en-US" sz="900" u="none" cap="none" strike="noStrike">
                <a:solidFill>
                  <a:srgbClr val="D6DFF0"/>
                </a:solidFill>
                <a:latin typeface="Calibri"/>
                <a:ea typeface="Calibri"/>
                <a:cs typeface="Calibri"/>
                <a:sym typeface="Calibri"/>
              </a:rPr>
              <a:t>Abraham De Vargas  ·  Deep Dive Data Science Cohort-20  ·  04/04/2026  ·  Visualization</a:t>
            </a:r>
            <a:endParaRPr b="0" i="0" sz="900" u="none" cap="none" strike="noStrike">
              <a:solidFill>
                <a:schemeClr val="dk1"/>
              </a:solidFill>
              <a:latin typeface="Calibri"/>
              <a:ea typeface="Calibri"/>
              <a:cs typeface="Calibri"/>
              <a:sym typeface="Calibri"/>
            </a:endParaRPr>
          </a:p>
        </p:txBody>
      </p:sp>
      <p:sp>
        <p:nvSpPr>
          <p:cNvPr id="269" name="Google Shape;269;p10"/>
          <p:cNvSpPr/>
          <p:nvPr/>
        </p:nvSpPr>
        <p:spPr>
          <a:xfrm>
            <a:off x="347472" y="749808"/>
            <a:ext cx="4114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Trebuchet MS"/>
              <a:buNone/>
            </a:pPr>
            <a:r>
              <a:rPr b="1" i="0" lang="en-US" sz="1400" u="none" cap="none" strike="noStrike">
                <a:solidFill>
                  <a:srgbClr val="1E2761"/>
                </a:solidFill>
                <a:latin typeface="Trebuchet MS"/>
                <a:ea typeface="Trebuchet MS"/>
                <a:cs typeface="Trebuchet MS"/>
                <a:sym typeface="Trebuchet MS"/>
              </a:rPr>
              <a:t>Predicted vs Actual Sale Price</a:t>
            </a:r>
            <a:endParaRPr b="0" i="0" sz="1400" u="none" cap="none" strike="noStrike">
              <a:solidFill>
                <a:schemeClr val="dk1"/>
              </a:solidFill>
              <a:latin typeface="Calibri"/>
              <a:ea typeface="Calibri"/>
              <a:cs typeface="Calibri"/>
              <a:sym typeface="Calibri"/>
            </a:endParaRPr>
          </a:p>
        </p:txBody>
      </p:sp>
      <p:sp>
        <p:nvSpPr>
          <p:cNvPr id="270" name="Google Shape;270;p10"/>
          <p:cNvSpPr/>
          <p:nvPr/>
        </p:nvSpPr>
        <p:spPr>
          <a:xfrm>
            <a:off x="4663440" y="749808"/>
            <a:ext cx="4297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Trebuchet MS"/>
              <a:buNone/>
            </a:pPr>
            <a:r>
              <a:rPr b="1" i="0" lang="en-US" sz="1400" u="none" cap="none" strike="noStrike">
                <a:solidFill>
                  <a:srgbClr val="1E2761"/>
                </a:solidFill>
                <a:latin typeface="Trebuchet MS"/>
                <a:ea typeface="Trebuchet MS"/>
                <a:cs typeface="Trebuchet MS"/>
                <a:sym typeface="Trebuchet MS"/>
              </a:rPr>
              <a:t>Top Features by Ridge Coefficient</a:t>
            </a:r>
            <a:endParaRPr b="0" i="0" sz="1400" u="none" cap="none" strike="noStrike">
              <a:solidFill>
                <a:schemeClr val="dk1"/>
              </a:solidFill>
              <a:latin typeface="Calibri"/>
              <a:ea typeface="Calibri"/>
              <a:cs typeface="Calibri"/>
              <a:sym typeface="Calibri"/>
            </a:endParaRPr>
          </a:p>
        </p:txBody>
      </p:sp>
      <p:sp>
        <p:nvSpPr>
          <p:cNvPr id="271" name="Google Shape;271;p10"/>
          <p:cNvSpPr/>
          <p:nvPr/>
        </p:nvSpPr>
        <p:spPr>
          <a:xfrm>
            <a:off x="347472" y="1115568"/>
            <a:ext cx="4023360" cy="2606040"/>
          </a:xfrm>
          <a:prstGeom prst="rect">
            <a:avLst/>
          </a:prstGeom>
          <a:solidFill>
            <a:srgbClr val="EDF1FA"/>
          </a:solidFill>
          <a:ln cap="flat" cmpd="sng" w="19050">
            <a:solidFill>
              <a:srgbClr val="4A6FB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0"/>
          <p:cNvSpPr/>
          <p:nvPr/>
        </p:nvSpPr>
        <p:spPr>
          <a:xfrm>
            <a:off x="347472" y="2098548"/>
            <a:ext cx="40233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6FBF"/>
              </a:buClr>
              <a:buSzPts val="1300"/>
              <a:buFont typeface="Calibri"/>
              <a:buNone/>
            </a:pPr>
            <a:r>
              <a:rPr b="1" i="0" lang="en-US" sz="1300" u="none" cap="none" strike="noStrike">
                <a:solidFill>
                  <a:srgbClr val="4A6FBF"/>
                </a:solidFill>
                <a:latin typeface="Calibri"/>
                <a:ea typeface="Calibri"/>
                <a:cs typeface="Calibri"/>
                <a:sym typeface="Calibri"/>
              </a:rPr>
              <a:t>[ Insert Graph Here ]</a:t>
            </a:r>
            <a:endParaRPr b="0" i="0" sz="1300" u="none" cap="none" strike="noStrike">
              <a:solidFill>
                <a:schemeClr val="dk1"/>
              </a:solidFill>
              <a:latin typeface="Calibri"/>
              <a:ea typeface="Calibri"/>
              <a:cs typeface="Calibri"/>
              <a:sym typeface="Calibri"/>
            </a:endParaRPr>
          </a:p>
        </p:txBody>
      </p:sp>
      <p:sp>
        <p:nvSpPr>
          <p:cNvPr id="273" name="Google Shape;273;p10"/>
          <p:cNvSpPr/>
          <p:nvPr/>
        </p:nvSpPr>
        <p:spPr>
          <a:xfrm>
            <a:off x="347472" y="3447288"/>
            <a:ext cx="402336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BB8"/>
              </a:buClr>
              <a:buSzPts val="1000"/>
              <a:buFont typeface="Calibri"/>
              <a:buNone/>
            </a:pPr>
            <a:r>
              <a:rPr b="0" i="1" lang="en-US" sz="1000" u="none" cap="none" strike="noStrike">
                <a:solidFill>
                  <a:srgbClr val="8A9BB8"/>
                </a:solidFill>
                <a:latin typeface="Calibri"/>
                <a:ea typeface="Calibri"/>
                <a:cs typeface="Calibri"/>
                <a:sym typeface="Calibri"/>
              </a:rPr>
              <a:t>Predicted vs Actual scatter plot (Ridge)</a:t>
            </a:r>
            <a:endParaRPr b="0" i="0" sz="1000" u="none" cap="none" strike="noStrike">
              <a:solidFill>
                <a:schemeClr val="dk1"/>
              </a:solidFill>
              <a:latin typeface="Calibri"/>
              <a:ea typeface="Calibri"/>
              <a:cs typeface="Calibri"/>
              <a:sym typeface="Calibri"/>
            </a:endParaRPr>
          </a:p>
        </p:txBody>
      </p:sp>
      <p:sp>
        <p:nvSpPr>
          <p:cNvPr id="274" name="Google Shape;274;p10"/>
          <p:cNvSpPr/>
          <p:nvPr/>
        </p:nvSpPr>
        <p:spPr>
          <a:xfrm>
            <a:off x="4663440" y="1115568"/>
            <a:ext cx="4206240" cy="2606040"/>
          </a:xfrm>
          <a:prstGeom prst="rect">
            <a:avLst/>
          </a:prstGeom>
          <a:solidFill>
            <a:srgbClr val="EDF1FA"/>
          </a:solidFill>
          <a:ln cap="flat" cmpd="sng" w="19050">
            <a:solidFill>
              <a:srgbClr val="4A6FB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0"/>
          <p:cNvSpPr/>
          <p:nvPr/>
        </p:nvSpPr>
        <p:spPr>
          <a:xfrm>
            <a:off x="4663440" y="2098548"/>
            <a:ext cx="420624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6FBF"/>
              </a:buClr>
              <a:buSzPts val="1300"/>
              <a:buFont typeface="Calibri"/>
              <a:buNone/>
            </a:pPr>
            <a:r>
              <a:rPr b="1" i="0" lang="en-US" sz="1300" u="none" cap="none" strike="noStrike">
                <a:solidFill>
                  <a:srgbClr val="4A6FBF"/>
                </a:solidFill>
                <a:latin typeface="Calibri"/>
                <a:ea typeface="Calibri"/>
                <a:cs typeface="Calibri"/>
                <a:sym typeface="Calibri"/>
              </a:rPr>
              <a:t>[ Insert Graph Here ]</a:t>
            </a:r>
            <a:endParaRPr b="0" i="0" sz="1300" u="none" cap="none" strike="noStrike">
              <a:solidFill>
                <a:schemeClr val="dk1"/>
              </a:solidFill>
              <a:latin typeface="Calibri"/>
              <a:ea typeface="Calibri"/>
              <a:cs typeface="Calibri"/>
              <a:sym typeface="Calibri"/>
            </a:endParaRPr>
          </a:p>
        </p:txBody>
      </p:sp>
      <p:sp>
        <p:nvSpPr>
          <p:cNvPr id="276" name="Google Shape;276;p10"/>
          <p:cNvSpPr/>
          <p:nvPr/>
        </p:nvSpPr>
        <p:spPr>
          <a:xfrm>
            <a:off x="4663440" y="3447288"/>
            <a:ext cx="4206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BB8"/>
              </a:buClr>
              <a:buSzPts val="1000"/>
              <a:buFont typeface="Calibri"/>
              <a:buNone/>
            </a:pPr>
            <a:r>
              <a:rPr b="0" i="1" lang="en-US" sz="1000" u="none" cap="none" strike="noStrike">
                <a:solidFill>
                  <a:srgbClr val="8A9BB8"/>
                </a:solidFill>
                <a:latin typeface="Calibri"/>
                <a:ea typeface="Calibri"/>
                <a:cs typeface="Calibri"/>
                <a:sym typeface="Calibri"/>
              </a:rPr>
              <a:t>Top 20 Ridge coefficient bar chart</a:t>
            </a:r>
            <a:endParaRPr b="0" i="0" sz="1000" u="none" cap="none" strike="noStrike">
              <a:solidFill>
                <a:schemeClr val="dk1"/>
              </a:solidFill>
              <a:latin typeface="Calibri"/>
              <a:ea typeface="Calibri"/>
              <a:cs typeface="Calibri"/>
              <a:sym typeface="Calibri"/>
            </a:endParaRPr>
          </a:p>
        </p:txBody>
      </p:sp>
      <p:sp>
        <p:nvSpPr>
          <p:cNvPr id="277" name="Google Shape;277;p10"/>
          <p:cNvSpPr/>
          <p:nvPr/>
        </p:nvSpPr>
        <p:spPr>
          <a:xfrm>
            <a:off x="347472" y="3767328"/>
            <a:ext cx="4023360" cy="758952"/>
          </a:xfrm>
          <a:prstGeom prst="rect">
            <a:avLst/>
          </a:prstGeom>
          <a:solidFill>
            <a:srgbClr val="141B47"/>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0"/>
          <p:cNvSpPr/>
          <p:nvPr/>
        </p:nvSpPr>
        <p:spPr>
          <a:xfrm>
            <a:off x="457200" y="3767328"/>
            <a:ext cx="3794760" cy="7589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Points cluster tightly along the diagonal — especially in the $100k–$300k range. Spread widens at higher prices (typical for linear models).</a:t>
            </a:r>
            <a:endParaRPr b="0" i="0" sz="1100" u="none" cap="none" strike="noStrike">
              <a:solidFill>
                <a:schemeClr val="dk1"/>
              </a:solidFill>
              <a:latin typeface="Calibri"/>
              <a:ea typeface="Calibri"/>
              <a:cs typeface="Calibri"/>
              <a:sym typeface="Calibri"/>
            </a:endParaRPr>
          </a:p>
        </p:txBody>
      </p:sp>
      <p:sp>
        <p:nvSpPr>
          <p:cNvPr id="279" name="Google Shape;279;p10"/>
          <p:cNvSpPr/>
          <p:nvPr/>
        </p:nvSpPr>
        <p:spPr>
          <a:xfrm>
            <a:off x="4663440" y="3767328"/>
            <a:ext cx="4206240" cy="758952"/>
          </a:xfrm>
          <a:prstGeom prst="rect">
            <a:avLst/>
          </a:prstGeom>
          <a:solidFill>
            <a:srgbClr val="141B47"/>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0"/>
          <p:cNvSpPr/>
          <p:nvPr/>
        </p:nvSpPr>
        <p:spPr>
          <a:xfrm>
            <a:off x="4773168" y="3767328"/>
            <a:ext cx="3977640" cy="7589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Roof material, Overall Quality &amp; living area are the top drivers — fully consistent with real-world real estate intuition.</a:t>
            </a:r>
            <a:endParaRPr b="0" i="0" sz="1100" u="none" cap="none" strike="noStrike">
              <a:solidFill>
                <a:schemeClr val="dk1"/>
              </a:solidFill>
              <a:latin typeface="Calibri"/>
              <a:ea typeface="Calibri"/>
              <a:cs typeface="Calibri"/>
              <a:sym typeface="Calibri"/>
            </a:endParaRPr>
          </a:p>
        </p:txBody>
      </p:sp>
      <p:pic>
        <p:nvPicPr>
          <p:cNvPr id="281" name="Google Shape;281;p10" title="download.png"/>
          <p:cNvPicPr preferRelativeResize="0"/>
          <p:nvPr/>
        </p:nvPicPr>
        <p:blipFill>
          <a:blip r:embed="rId3">
            <a:alphaModFix/>
          </a:blip>
          <a:stretch>
            <a:fillRect/>
          </a:stretch>
        </p:blipFill>
        <p:spPr>
          <a:xfrm>
            <a:off x="347475" y="1028025"/>
            <a:ext cx="4114799" cy="2739300"/>
          </a:xfrm>
          <a:prstGeom prst="rect">
            <a:avLst/>
          </a:prstGeom>
          <a:noFill/>
          <a:ln>
            <a:noFill/>
          </a:ln>
        </p:spPr>
      </p:pic>
      <p:pic>
        <p:nvPicPr>
          <p:cNvPr id="282" name="Google Shape;282;p10" title="download.png"/>
          <p:cNvPicPr preferRelativeResize="0"/>
          <p:nvPr/>
        </p:nvPicPr>
        <p:blipFill>
          <a:blip r:embed="rId4">
            <a:alphaModFix/>
          </a:blip>
          <a:stretch>
            <a:fillRect/>
          </a:stretch>
        </p:blipFill>
        <p:spPr>
          <a:xfrm>
            <a:off x="4645149" y="1048950"/>
            <a:ext cx="4297674" cy="27392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87" name="Shape 287"/>
        <p:cNvGrpSpPr/>
        <p:nvPr/>
      </p:nvGrpSpPr>
      <p:grpSpPr>
        <a:xfrm>
          <a:off x="0" y="0"/>
          <a:ext cx="0" cy="0"/>
          <a:chOff x="0" y="0"/>
          <a:chExt cx="0" cy="0"/>
        </a:xfrm>
      </p:grpSpPr>
      <p:sp>
        <p:nvSpPr>
          <p:cNvPr id="288" name="Google Shape;288;p11"/>
          <p:cNvSpPr/>
          <p:nvPr/>
        </p:nvSpPr>
        <p:spPr>
          <a:xfrm>
            <a:off x="0" y="0"/>
            <a:ext cx="9144000" cy="658368"/>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1"/>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Summary &amp; What's Next</a:t>
            </a:r>
            <a:endParaRPr b="0" i="0" sz="2200" u="none" cap="none" strike="noStrike">
              <a:solidFill>
                <a:schemeClr val="dk1"/>
              </a:solidFill>
              <a:latin typeface="Calibri"/>
              <a:ea typeface="Calibri"/>
              <a:cs typeface="Calibri"/>
              <a:sym typeface="Calibri"/>
            </a:endParaRPr>
          </a:p>
        </p:txBody>
      </p:sp>
      <p:sp>
        <p:nvSpPr>
          <p:cNvPr id="290" name="Google Shape;290;p11"/>
          <p:cNvSpPr/>
          <p:nvPr/>
        </p:nvSpPr>
        <p:spPr>
          <a:xfrm>
            <a:off x="0" y="0"/>
            <a:ext cx="164592" cy="514350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1"/>
          <p:cNvSpPr/>
          <p:nvPr/>
        </p:nvSpPr>
        <p:spPr>
          <a:xfrm>
            <a:off x="0" y="4892040"/>
            <a:ext cx="9144000" cy="251460"/>
          </a:xfrm>
          <a:prstGeom prst="rect">
            <a:avLst/>
          </a:prstGeom>
          <a:solidFill>
            <a:srgbClr val="141B47"/>
          </a:solidFill>
          <a:ln cap="flat" cmpd="sng" w="12700">
            <a:solidFill>
              <a:srgbClr val="1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1"/>
          <p:cNvSpPr/>
          <p:nvPr/>
        </p:nvSpPr>
        <p:spPr>
          <a:xfrm>
            <a:off x="274320" y="4892040"/>
            <a:ext cx="8595360" cy="2514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DFF0"/>
              </a:buClr>
              <a:buSzPts val="900"/>
              <a:buFont typeface="Calibri"/>
              <a:buNone/>
            </a:pPr>
            <a:r>
              <a:rPr b="0" i="0" lang="en-US" sz="900" u="none" cap="none" strike="noStrike">
                <a:solidFill>
                  <a:srgbClr val="D6DFF0"/>
                </a:solidFill>
                <a:latin typeface="Calibri"/>
                <a:ea typeface="Calibri"/>
                <a:cs typeface="Calibri"/>
                <a:sym typeface="Calibri"/>
              </a:rPr>
              <a:t>Abraham De Vargas  ·  Deep Dive Data Science Cohort-20  ·  04/04/2026  ·  Conclusion</a:t>
            </a:r>
            <a:endParaRPr b="0" i="0" sz="900" u="none" cap="none" strike="noStrike">
              <a:solidFill>
                <a:schemeClr val="dk1"/>
              </a:solidFill>
              <a:latin typeface="Calibri"/>
              <a:ea typeface="Calibri"/>
              <a:cs typeface="Calibri"/>
              <a:sym typeface="Calibri"/>
            </a:endParaRPr>
          </a:p>
        </p:txBody>
      </p:sp>
      <p:sp>
        <p:nvSpPr>
          <p:cNvPr id="293" name="Google Shape;293;p11"/>
          <p:cNvSpPr/>
          <p:nvPr/>
        </p:nvSpPr>
        <p:spPr>
          <a:xfrm>
            <a:off x="347472" y="777240"/>
            <a:ext cx="4572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C040"/>
              </a:buClr>
              <a:buSzPts val="1600"/>
              <a:buFont typeface="Trebuchet MS"/>
              <a:buNone/>
            </a:pPr>
            <a:r>
              <a:rPr b="1" i="0" lang="en-US" sz="1600" u="none" cap="none" strike="noStrike">
                <a:solidFill>
                  <a:srgbClr val="F0C040"/>
                </a:solidFill>
                <a:latin typeface="Trebuchet MS"/>
                <a:ea typeface="Trebuchet MS"/>
                <a:cs typeface="Trebuchet MS"/>
                <a:sym typeface="Trebuchet MS"/>
              </a:rPr>
              <a:t>Key Takeaways</a:t>
            </a:r>
            <a:endParaRPr b="0" i="0" sz="1600" u="none" cap="none" strike="noStrike">
              <a:solidFill>
                <a:schemeClr val="dk1"/>
              </a:solidFill>
              <a:latin typeface="Calibri"/>
              <a:ea typeface="Calibri"/>
              <a:cs typeface="Calibri"/>
              <a:sym typeface="Calibri"/>
            </a:endParaRPr>
          </a:p>
        </p:txBody>
      </p:sp>
      <p:sp>
        <p:nvSpPr>
          <p:cNvPr id="294" name="Google Shape;294;p11"/>
          <p:cNvSpPr/>
          <p:nvPr/>
        </p:nvSpPr>
        <p:spPr>
          <a:xfrm>
            <a:off x="347472" y="1234440"/>
            <a:ext cx="54864" cy="274320"/>
          </a:xfrm>
          <a:prstGeom prst="rect">
            <a:avLst/>
          </a:prstGeom>
          <a:solidFill>
            <a:srgbClr val="F0C040"/>
          </a:solidFill>
          <a:ln cap="flat" cmpd="sng" w="12700">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1"/>
          <p:cNvSpPr/>
          <p:nvPr/>
        </p:nvSpPr>
        <p:spPr>
          <a:xfrm>
            <a:off x="512064" y="1188720"/>
            <a:ext cx="42519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Lean Ridge (177 features) beats full model (262 features) — 0.1451 vs 0.1503 RMSPE (~14.5% avg error)</a:t>
            </a:r>
            <a:endParaRPr b="0" i="0" sz="1200" u="none" cap="none" strike="noStrike">
              <a:solidFill>
                <a:schemeClr val="dk1"/>
              </a:solidFill>
              <a:latin typeface="Calibri"/>
              <a:ea typeface="Calibri"/>
              <a:cs typeface="Calibri"/>
              <a:sym typeface="Calibri"/>
            </a:endParaRPr>
          </a:p>
        </p:txBody>
      </p:sp>
      <p:sp>
        <p:nvSpPr>
          <p:cNvPr id="296" name="Google Shape;296;p11"/>
          <p:cNvSpPr/>
          <p:nvPr/>
        </p:nvSpPr>
        <p:spPr>
          <a:xfrm>
            <a:off x="347472" y="1856232"/>
            <a:ext cx="54864" cy="274320"/>
          </a:xfrm>
          <a:prstGeom prst="rect">
            <a:avLst/>
          </a:prstGeom>
          <a:solidFill>
            <a:srgbClr val="F0C040"/>
          </a:solidFill>
          <a:ln cap="flat" cmpd="sng" w="12700">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1"/>
          <p:cNvSpPr/>
          <p:nvPr/>
        </p:nvSpPr>
        <p:spPr>
          <a:xfrm>
            <a:off x="512064" y="1810512"/>
            <a:ext cx="42519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Lasso is a powerful automatic feature selector</a:t>
            </a:r>
            <a:endParaRPr b="0" i="0" sz="1200" u="none" cap="none" strike="noStrike">
              <a:solidFill>
                <a:schemeClr val="dk1"/>
              </a:solidFill>
              <a:latin typeface="Calibri"/>
              <a:ea typeface="Calibri"/>
              <a:cs typeface="Calibri"/>
              <a:sym typeface="Calibri"/>
            </a:endParaRPr>
          </a:p>
        </p:txBody>
      </p:sp>
      <p:sp>
        <p:nvSpPr>
          <p:cNvPr id="298" name="Google Shape;298;p11"/>
          <p:cNvSpPr/>
          <p:nvPr/>
        </p:nvSpPr>
        <p:spPr>
          <a:xfrm>
            <a:off x="347472" y="2478024"/>
            <a:ext cx="54864" cy="274320"/>
          </a:xfrm>
          <a:prstGeom prst="rect">
            <a:avLst/>
          </a:prstGeom>
          <a:solidFill>
            <a:srgbClr val="F0C040"/>
          </a:solidFill>
          <a:ln cap="flat" cmpd="sng" w="12700">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1"/>
          <p:cNvSpPr/>
          <p:nvPr/>
        </p:nvSpPr>
        <p:spPr>
          <a:xfrm>
            <a:off x="512064" y="2432304"/>
            <a:ext cx="42519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Log-transforming the target is critical for % error optimization</a:t>
            </a:r>
            <a:endParaRPr b="0" i="0" sz="1200" u="none" cap="none" strike="noStrike">
              <a:solidFill>
                <a:schemeClr val="dk1"/>
              </a:solidFill>
              <a:latin typeface="Calibri"/>
              <a:ea typeface="Calibri"/>
              <a:cs typeface="Calibri"/>
              <a:sym typeface="Calibri"/>
            </a:endParaRPr>
          </a:p>
        </p:txBody>
      </p:sp>
      <p:sp>
        <p:nvSpPr>
          <p:cNvPr id="300" name="Google Shape;300;p11"/>
          <p:cNvSpPr/>
          <p:nvPr/>
        </p:nvSpPr>
        <p:spPr>
          <a:xfrm>
            <a:off x="347472" y="3099816"/>
            <a:ext cx="54864" cy="274320"/>
          </a:xfrm>
          <a:prstGeom prst="rect">
            <a:avLst/>
          </a:prstGeom>
          <a:solidFill>
            <a:srgbClr val="F0C040"/>
          </a:solidFill>
          <a:ln cap="flat" cmpd="sng" w="12700">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1"/>
          <p:cNvSpPr/>
          <p:nvPr/>
        </p:nvSpPr>
        <p:spPr>
          <a:xfrm>
            <a:off x="512064" y="3054096"/>
            <a:ext cx="42519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Feature scaling must happen inside CV to avoid data leakage</a:t>
            </a:r>
            <a:endParaRPr b="0" i="0" sz="1200" u="none" cap="none" strike="noStrike">
              <a:solidFill>
                <a:schemeClr val="dk1"/>
              </a:solidFill>
              <a:latin typeface="Calibri"/>
              <a:ea typeface="Calibri"/>
              <a:cs typeface="Calibri"/>
              <a:sym typeface="Calibri"/>
            </a:endParaRPr>
          </a:p>
        </p:txBody>
      </p:sp>
      <p:sp>
        <p:nvSpPr>
          <p:cNvPr id="302" name="Google Shape;302;p11"/>
          <p:cNvSpPr/>
          <p:nvPr/>
        </p:nvSpPr>
        <p:spPr>
          <a:xfrm>
            <a:off x="347472" y="3721608"/>
            <a:ext cx="54864" cy="274320"/>
          </a:xfrm>
          <a:prstGeom prst="rect">
            <a:avLst/>
          </a:prstGeom>
          <a:solidFill>
            <a:srgbClr val="F0C040"/>
          </a:solidFill>
          <a:ln cap="flat" cmpd="sng" w="12700">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1"/>
          <p:cNvSpPr/>
          <p:nvPr/>
        </p:nvSpPr>
        <p:spPr>
          <a:xfrm>
            <a:off x="512064" y="3675888"/>
            <a:ext cx="42519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Overall Quality &amp; living area are the strongest price drivers</a:t>
            </a:r>
            <a:endParaRPr b="0" i="0" sz="1200" u="none" cap="none" strike="noStrike">
              <a:solidFill>
                <a:schemeClr val="dk1"/>
              </a:solidFill>
              <a:latin typeface="Calibri"/>
              <a:ea typeface="Calibri"/>
              <a:cs typeface="Calibri"/>
              <a:sym typeface="Calibri"/>
            </a:endParaRPr>
          </a:p>
        </p:txBody>
      </p:sp>
      <p:sp>
        <p:nvSpPr>
          <p:cNvPr id="304" name="Google Shape;304;p11"/>
          <p:cNvSpPr/>
          <p:nvPr/>
        </p:nvSpPr>
        <p:spPr>
          <a:xfrm>
            <a:off x="4919472" y="777240"/>
            <a:ext cx="36576" cy="3840480"/>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1"/>
          <p:cNvSpPr/>
          <p:nvPr/>
        </p:nvSpPr>
        <p:spPr>
          <a:xfrm>
            <a:off x="5102352" y="777240"/>
            <a:ext cx="38404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600"/>
              <a:buFont typeface="Trebuchet MS"/>
              <a:buNone/>
            </a:pPr>
            <a:r>
              <a:rPr b="1" i="0" lang="en-US" sz="1600" u="none" cap="none" strike="noStrike">
                <a:solidFill>
                  <a:srgbClr val="CADCFC"/>
                </a:solidFill>
                <a:latin typeface="Trebuchet MS"/>
                <a:ea typeface="Trebuchet MS"/>
                <a:cs typeface="Trebuchet MS"/>
                <a:sym typeface="Trebuchet MS"/>
              </a:rPr>
              <a:t>What's Next</a:t>
            </a:r>
            <a:endParaRPr b="0" i="0" sz="1600" u="none" cap="none" strike="noStrike">
              <a:solidFill>
                <a:schemeClr val="dk1"/>
              </a:solidFill>
              <a:latin typeface="Calibri"/>
              <a:ea typeface="Calibri"/>
              <a:cs typeface="Calibri"/>
              <a:sym typeface="Calibri"/>
            </a:endParaRPr>
          </a:p>
        </p:txBody>
      </p:sp>
      <p:sp>
        <p:nvSpPr>
          <p:cNvPr id="306" name="Google Shape;306;p11"/>
          <p:cNvSpPr/>
          <p:nvPr/>
        </p:nvSpPr>
        <p:spPr>
          <a:xfrm>
            <a:off x="5102352" y="1261872"/>
            <a:ext cx="219456" cy="219456"/>
          </a:xfrm>
          <a:prstGeom prst="ellipse">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1"/>
          <p:cNvSpPr/>
          <p:nvPr/>
        </p:nvSpPr>
        <p:spPr>
          <a:xfrm>
            <a:off x="5394960" y="1207008"/>
            <a:ext cx="34747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Gradient Boosting / XGBoost — capture non-linear effects</a:t>
            </a:r>
            <a:endParaRPr b="0" i="0" sz="1200" u="none" cap="none" strike="noStrike">
              <a:solidFill>
                <a:schemeClr val="dk1"/>
              </a:solidFill>
              <a:latin typeface="Calibri"/>
              <a:ea typeface="Calibri"/>
              <a:cs typeface="Calibri"/>
              <a:sym typeface="Calibri"/>
            </a:endParaRPr>
          </a:p>
        </p:txBody>
      </p:sp>
      <p:sp>
        <p:nvSpPr>
          <p:cNvPr id="308" name="Google Shape;308;p11"/>
          <p:cNvSpPr/>
          <p:nvPr/>
        </p:nvSpPr>
        <p:spPr>
          <a:xfrm>
            <a:off x="5102352" y="1883664"/>
            <a:ext cx="219456" cy="219456"/>
          </a:xfrm>
          <a:prstGeom prst="ellipse">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1"/>
          <p:cNvSpPr/>
          <p:nvPr/>
        </p:nvSpPr>
        <p:spPr>
          <a:xfrm>
            <a:off x="5394960" y="1828800"/>
            <a:ext cx="34747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Feature engineering — house age, total bathrooms</a:t>
            </a:r>
            <a:endParaRPr b="0" i="0" sz="1200" u="none" cap="none" strike="noStrike">
              <a:solidFill>
                <a:schemeClr val="dk1"/>
              </a:solidFill>
              <a:latin typeface="Calibri"/>
              <a:ea typeface="Calibri"/>
              <a:cs typeface="Calibri"/>
              <a:sym typeface="Calibri"/>
            </a:endParaRPr>
          </a:p>
        </p:txBody>
      </p:sp>
      <p:sp>
        <p:nvSpPr>
          <p:cNvPr id="310" name="Google Shape;310;p11"/>
          <p:cNvSpPr/>
          <p:nvPr/>
        </p:nvSpPr>
        <p:spPr>
          <a:xfrm>
            <a:off x="5102352" y="2505456"/>
            <a:ext cx="219456" cy="219456"/>
          </a:xfrm>
          <a:prstGeom prst="ellipse">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1"/>
          <p:cNvSpPr/>
          <p:nvPr/>
        </p:nvSpPr>
        <p:spPr>
          <a:xfrm>
            <a:off x="5394960" y="2450592"/>
            <a:ext cx="34747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GridSearchCV to tune regularization alpha</a:t>
            </a:r>
            <a:endParaRPr b="0" i="0" sz="1200" u="none" cap="none" strike="noStrike">
              <a:solidFill>
                <a:schemeClr val="dk1"/>
              </a:solidFill>
              <a:latin typeface="Calibri"/>
              <a:ea typeface="Calibri"/>
              <a:cs typeface="Calibri"/>
              <a:sym typeface="Calibri"/>
            </a:endParaRPr>
          </a:p>
        </p:txBody>
      </p:sp>
      <p:sp>
        <p:nvSpPr>
          <p:cNvPr id="312" name="Google Shape;312;p11"/>
          <p:cNvSpPr/>
          <p:nvPr/>
        </p:nvSpPr>
        <p:spPr>
          <a:xfrm>
            <a:off x="5102352" y="3127248"/>
            <a:ext cx="219456" cy="219456"/>
          </a:xfrm>
          <a:prstGeom prst="ellipse">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1"/>
          <p:cNvSpPr/>
          <p:nvPr/>
        </p:nvSpPr>
        <p:spPr>
          <a:xfrm>
            <a:off x="5394960" y="3072384"/>
            <a:ext cx="34747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Remove price outliers (large homes, anomalous sales)</a:t>
            </a:r>
            <a:endParaRPr b="0" i="0" sz="1200" u="none" cap="none" strike="noStrike">
              <a:solidFill>
                <a:schemeClr val="dk1"/>
              </a:solidFill>
              <a:latin typeface="Calibri"/>
              <a:ea typeface="Calibri"/>
              <a:cs typeface="Calibri"/>
              <a:sym typeface="Calibri"/>
            </a:endParaRPr>
          </a:p>
        </p:txBody>
      </p:sp>
      <p:sp>
        <p:nvSpPr>
          <p:cNvPr id="314" name="Google Shape;314;p11"/>
          <p:cNvSpPr/>
          <p:nvPr/>
        </p:nvSpPr>
        <p:spPr>
          <a:xfrm>
            <a:off x="5102352" y="3749040"/>
            <a:ext cx="219456" cy="219456"/>
          </a:xfrm>
          <a:prstGeom prst="ellipse">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1"/>
          <p:cNvSpPr/>
          <p:nvPr/>
        </p:nvSpPr>
        <p:spPr>
          <a:xfrm>
            <a:off x="5394960" y="3694176"/>
            <a:ext cx="34747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Evaluate with additional metrics (R², MAE)</a:t>
            </a:r>
            <a:endParaRPr b="0" i="0" sz="1200" u="none" cap="none" strike="noStrike">
              <a:solidFill>
                <a:schemeClr val="dk1"/>
              </a:solidFill>
              <a:latin typeface="Calibri"/>
              <a:ea typeface="Calibri"/>
              <a:cs typeface="Calibri"/>
              <a:sym typeface="Calibri"/>
            </a:endParaRPr>
          </a:p>
        </p:txBody>
      </p:sp>
      <p:sp>
        <p:nvSpPr>
          <p:cNvPr id="316" name="Google Shape;316;p11"/>
          <p:cNvSpPr/>
          <p:nvPr/>
        </p:nvSpPr>
        <p:spPr>
          <a:xfrm>
            <a:off x="347472" y="4617720"/>
            <a:ext cx="8503920" cy="274320"/>
          </a:xfrm>
          <a:prstGeom prst="rect">
            <a:avLst/>
          </a:prstGeom>
          <a:solidFill>
            <a:srgbClr val="4A6FBF"/>
          </a:solidFill>
          <a:ln cap="flat" cmpd="sng" w="12700">
            <a:solidFill>
              <a:srgbClr val="4A6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1"/>
          <p:cNvSpPr/>
          <p:nvPr/>
        </p:nvSpPr>
        <p:spPr>
          <a:xfrm>
            <a:off x="347472" y="4617720"/>
            <a:ext cx="85039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Trebuchet MS"/>
              <a:buNone/>
            </a:pPr>
            <a:r>
              <a:rPr b="1" i="0" lang="en-US" sz="1400" u="none" cap="none" strike="noStrike">
                <a:solidFill>
                  <a:srgbClr val="FFFFFF"/>
                </a:solidFill>
                <a:latin typeface="Trebuchet MS"/>
                <a:ea typeface="Trebuchet MS"/>
                <a:cs typeface="Trebuchet MS"/>
                <a:sym typeface="Trebuchet MS"/>
              </a:rPr>
              <a:t>Questions?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