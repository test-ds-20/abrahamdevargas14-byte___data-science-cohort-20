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k9EYBUWpcRM/IvGCMgGyEV1o9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 seconds.</a:t>
            </a:r>
            <a:br>
              <a:rPr lang="en-US"/>
            </a:br>
            <a:br>
              <a:rPr lang="en-US"/>
            </a:br>
            <a:r>
              <a:rPr lang="en-US"/>
              <a:t>This project predicts how popular a song will be on Spotify — on a 0-to-100 scale — before it's released, using only features you'd know ahead of time. Model is a Decision Tree, evaluated with 5-fold cross-validation. Let me walk you through the key decisions and results.`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45 seconds.</a:t>
            </a:r>
            <a:br>
              <a:rPr lang="en-US"/>
            </a:br>
            <a:br>
              <a:rPr lang="en-US"/>
            </a:br>
            <a:r>
              <a:rPr lang="en-US"/>
              <a:t>The target is Spotify's Popularity score — 0 to 100. I chose this over Streams because it's available before a song releases, through the public API. Streams only exists post-release and has extreme skew. The histogram on the left shows the distribution — left-skewed, with a spike near zero for songs with no traction. All features I kept are things a label would know before dropping a track: audio characteristics and the artist's follower count. </a:t>
            </a: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`Popularity`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may be artificially easier to predict because it is a smoothed,  </a:t>
            </a:r>
            <a:endParaRPr sz="1050">
              <a:solidFill>
                <a:srgbClr val="D4D4D4"/>
              </a:solidFill>
              <a:highlight>
                <a:schemeClr val="dk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 time-decayed score that Spotify already computes from the same audio metadata we use.</a:t>
            </a:r>
            <a:endParaRPr sz="1050">
              <a:solidFill>
                <a:srgbClr val="D4D4D4"/>
              </a:solidFill>
              <a:highlight>
                <a:schemeClr val="dk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9CDCFE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`Streams`</a:t>
            </a: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has extreme right skew (a log transform would be required) and is only  </a:t>
            </a:r>
            <a:endParaRPr sz="1050">
              <a:solidFill>
                <a:srgbClr val="D4D4D4"/>
              </a:solidFill>
              <a:highlight>
                <a:schemeClr val="dk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chemeClr val="dk1"/>
                </a:highlight>
                <a:latin typeface="Georgia"/>
                <a:ea typeface="Georgia"/>
                <a:cs typeface="Georgia"/>
                <a:sym typeface="Georgia"/>
              </a:rPr>
              <a:t>  observable post-release — but it is a more transparent target.</a:t>
            </a:r>
            <a:endParaRPr sz="1050">
              <a:solidFill>
                <a:srgbClr val="D4D4D4"/>
              </a:solidFill>
              <a:highlight>
                <a:schemeClr val="dk1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45 seconds.</a:t>
            </a:r>
            <a:br>
              <a:rPr lang="en-US"/>
            </a:br>
            <a:br>
              <a:rPr lang="en-US"/>
            </a:br>
            <a:r>
              <a:rPr lang="en-US"/>
              <a:t>The main prep decision was cutting post-release leakage — Streams, chart positions, weeks charted — anything a label wouldn't know at release time. I also stripped commas from the CSV since pandas read numeric columns as strings, log-transformed artist followers to compress the skew, and imputed medians for nulls. Nothing fancy, just cleaning up this silly ol dataset. </a:t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minute.</a:t>
            </a:r>
            <a:br>
              <a:rPr lang="en-US"/>
            </a:br>
            <a:br>
              <a:rPr lang="en-US"/>
            </a:br>
            <a:r>
              <a:rPr lang="en-US"/>
              <a:t>I swept max_depth from 2 to 20 and picked the depth with the lowest 5-fold CV RMSE. The chart shows the classic bias-variance curve — too shallow and the tree can't capture real patterns, too deep and it memorizes noise. The sweet spot was around depth 10, which cut RMSE by about 8 points vs. the unpruned baseline. KFold was the right choice here — every row is used as a validation point exactly once, so the estimate is more stable than a random holdout loop.</a:t>
            </a:r>
            <a:endParaRPr/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minute.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Here are the numbers. Tuned CV RMSE came in around 14.7 — about 8 points better than the unpruned baseline. R-squared is 0.46, so the model explains about half the variance in Popularity. The train-to-CV gap is under 2 points, which means we're not badly overfit.</a:t>
            </a:r>
            <a:br>
              <a:rPr lang="en-US"/>
            </a:br>
            <a:br>
              <a:rPr lang="en-US"/>
            </a:br>
            <a:r>
              <a:rPr lang="en-US"/>
              <a:t>The biggest takeaway from feature importance: artist followers dominates at 62%. Who made the song predicts popularity more than the audio itself. That's a real finding for a label — you can't rely on audio features alone for an unknown artist. The remaining ~54% of variance is stuff we can't measure: viral moments, playlist placements, marketing spend.'</a:t>
            </a:r>
            <a:endParaRPr/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 minute.</a:t>
            </a:r>
            <a:br>
              <a:rPr lang="en-US"/>
            </a:br>
            <a:br>
              <a:rPr lang="en-US"/>
            </a:br>
            <a:r>
              <a:rPr lang="en-US"/>
              <a:t>Four things I want to do next. First: re-run without artist followers — answers a different question about unknown artists. Second: benchmark Popularity against Streams as the target, same pipeline, just swap the label. Third: add Genre with one-hot encoding and check whether CV RMSE drops. Fourth: try a Random Forest or XGBoost — ensembles average out the variance from individual splits and should give a few more RMSE points. Also an </a:t>
            </a:r>
            <a:r>
              <a:rPr lang="en-US"/>
              <a:t>honorary</a:t>
            </a:r>
            <a:r>
              <a:rPr lang="en-US"/>
              <a:t> mention is to look into Hit Song Science research papers to understand more about the weight and value of audio features. </a:t>
            </a:r>
            <a:br>
              <a:rPr lang="en-US"/>
            </a:br>
            <a:br>
              <a:rPr lang="en-US"/>
            </a:br>
            <a:r>
              <a:rPr lang="en-US"/>
              <a:t>Big picture takeaway: the model is solid for what it is, but the missing variance is an information problem — you'd need playlist pitches, label size, marketing budget to crack the other 54%. Questions?'</a:t>
            </a:r>
            <a:endParaRPr/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Spotify Music Popularity Prediction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237744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Predicting Popularity (0–100) with a Decision Tree  ·  5-Fold CV RMSE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Abe  ·  May 2025  ·  Project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8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21212"/>
                </a:solidFill>
                <a:latin typeface="Calibri"/>
                <a:ea typeface="Calibri"/>
                <a:cs typeface="Calibri"/>
                <a:sym typeface="Calibri"/>
              </a:rPr>
              <a:t>What Are We Predicting?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457200" y="960120"/>
            <a:ext cx="64008" cy="822960"/>
          </a:xfrm>
          <a:prstGeom prst="rect">
            <a:avLst/>
          </a:prstGeom>
          <a:solidFill>
            <a:srgbClr val="1DB954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658368" y="97840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212"/>
                </a:solidFill>
                <a:latin typeface="Calibri"/>
                <a:ea typeface="Calibri"/>
                <a:cs typeface="Calibri"/>
                <a:sym typeface="Calibri"/>
              </a:rPr>
              <a:t>Target: Popularity (0–100)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58368" y="128930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Spotify's score — available pre-release via the API. Bounded and interpretable.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135875" y="923540"/>
            <a:ext cx="63900" cy="822900"/>
          </a:xfrm>
          <a:prstGeom prst="rect">
            <a:avLst/>
          </a:prstGeom>
          <a:solidFill>
            <a:srgbClr val="1DB954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337043" y="941828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212"/>
                </a:solidFill>
                <a:latin typeface="Calibri"/>
                <a:ea typeface="Calibri"/>
                <a:cs typeface="Calibri"/>
                <a:sym typeface="Calibri"/>
              </a:rPr>
              <a:t>Why not Streams?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337043" y="1252724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Streams is post-release only and has extreme right skew. Popularity fits the pre-release framing.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2642613" y="4114785"/>
            <a:ext cx="63900" cy="822900"/>
          </a:xfrm>
          <a:prstGeom prst="rect">
            <a:avLst/>
          </a:prstGeom>
          <a:solidFill>
            <a:srgbClr val="1DB954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2843781" y="4114773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21212"/>
                </a:solidFill>
                <a:latin typeface="Calibri"/>
                <a:ea typeface="Calibri"/>
                <a:cs typeface="Calibri"/>
                <a:sym typeface="Calibri"/>
              </a:rPr>
              <a:t>Features used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843781" y="4443969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Audio features (danceability, energy, loudness, tempo, etc.) + log(artist followers). No post-release leakage.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2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767800"/>
            <a:ext cx="8229600" cy="2325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21212"/>
                </a:solidFill>
                <a:latin typeface="Calibri"/>
                <a:ea typeface="Calibri"/>
                <a:cs typeface="Calibri"/>
                <a:sym typeface="Calibri"/>
              </a:rPr>
              <a:t>Data Preparation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457200" y="896112"/>
            <a:ext cx="3474720" cy="38404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548640" y="91440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  Dropped — post-release leakage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48640" y="1353312"/>
            <a:ext cx="3291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Georgia"/>
              <a:buChar char="•"/>
            </a:pPr>
            <a:r>
              <a:rPr i="0" lang="en-US" sz="12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Streams</a:t>
            </a:r>
            <a:endParaRPr i="0" sz="1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Georgia"/>
              <a:buChar char="•"/>
            </a:pPr>
            <a:r>
              <a:rPr i="0" lang="en-US" sz="12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Highest Charting Position</a:t>
            </a:r>
            <a:endParaRPr i="0" sz="1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Georgia"/>
              <a:buChar char="•"/>
            </a:pPr>
            <a:r>
              <a:rPr i="0" lang="en-US" sz="12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Times Charted</a:t>
            </a:r>
            <a:endParaRPr i="0" sz="1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Georgia"/>
              <a:buChar char="•"/>
            </a:pPr>
            <a:r>
              <a:rPr i="0" lang="en-US" sz="12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Weeks Charted</a:t>
            </a:r>
            <a:endParaRPr i="0" sz="1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Georgia"/>
              <a:buChar char="•"/>
            </a:pPr>
            <a:r>
              <a:rPr i="0" lang="en-US" sz="12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Song ID / Name</a:t>
            </a:r>
            <a:endParaRPr i="0" sz="1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160520" y="896112"/>
            <a:ext cx="3474720" cy="384048"/>
          </a:xfrm>
          <a:prstGeom prst="rect">
            <a:avLst/>
          </a:prstGeom>
          <a:solidFill>
            <a:srgbClr val="1DB954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4251960" y="914400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Kept — pre-release only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251960" y="1353312"/>
            <a:ext cx="32918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Georgia"/>
              <a:buChar char="•"/>
            </a:pPr>
            <a:r>
              <a:rPr i="0" lang="en-US" sz="12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Danceability, Energy, Loudness</a:t>
            </a:r>
            <a:endParaRPr i="0" sz="1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Georgia"/>
              <a:buChar char="•"/>
            </a:pPr>
            <a:r>
              <a:rPr i="0" lang="en-US" sz="12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Speechiness, Acousticness</a:t>
            </a:r>
            <a:endParaRPr i="0" sz="1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Georgia"/>
              <a:buChar char="•"/>
            </a:pPr>
            <a:r>
              <a:rPr i="0" lang="en-US" sz="12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Liveness, Valence, Tempo</a:t>
            </a:r>
            <a:endParaRPr i="0" sz="1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Georgia"/>
              <a:buChar char="•"/>
            </a:pPr>
            <a:r>
              <a:rPr i="0" lang="en-US" sz="12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Duration (sec)</a:t>
            </a:r>
            <a:endParaRPr i="0" sz="1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Georgia"/>
              <a:buChar char="•"/>
            </a:pPr>
            <a:r>
              <a:rPr i="0" lang="en-US" sz="1200" u="none" cap="none" strike="noStrike">
                <a:solidFill>
                  <a:srgbClr val="1F2937"/>
                </a:solidFill>
                <a:latin typeface="Georgia"/>
                <a:ea typeface="Georgia"/>
                <a:cs typeface="Georgia"/>
                <a:sym typeface="Georgia"/>
              </a:rPr>
              <a:t>log(Artist Followers + 1)</a:t>
            </a:r>
            <a:endParaRPr i="0" sz="12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solidFill>
            <a:srgbClr val="F3F4F6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594360" y="3886200"/>
            <a:ext cx="79552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Key engineering steps: strip commas from CSV → pd.to_numeric()  ·  log1p(artist followers) to handle skew  ·  median imputation  ·  drop duplicates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700">
        <p:fade thruBlk="1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/>
          <p:nvPr/>
        </p:nvSpPr>
        <p:spPr>
          <a:xfrm>
            <a:off x="384050" y="219425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21212"/>
                </a:solidFill>
                <a:latin typeface="Calibri"/>
                <a:ea typeface="Calibri"/>
                <a:cs typeface="Calibri"/>
                <a:sym typeface="Calibri"/>
              </a:rPr>
              <a:t>Decision Tree + Depth Tuning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760720" y="960120"/>
            <a:ext cx="2926080" cy="65836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870448" y="1005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1212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870448" y="128930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No depth limit → severely overfit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760720" y="1764792"/>
            <a:ext cx="2926080" cy="65836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5870448" y="18105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1212"/>
                </a:solidFill>
                <a:latin typeface="Calibri"/>
                <a:ea typeface="Calibri"/>
                <a:cs typeface="Calibri"/>
                <a:sym typeface="Calibri"/>
              </a:rPr>
              <a:t>Depth sweep 2–20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870448" y="2093976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5-fold CV RMSE at each level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760720" y="2569464"/>
            <a:ext cx="2926080" cy="65836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5870448" y="261518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1212"/>
                </a:solidFill>
                <a:latin typeface="Calibri"/>
                <a:ea typeface="Calibri"/>
                <a:cs typeface="Calibri"/>
                <a:sym typeface="Calibri"/>
              </a:rPr>
              <a:t>Optimal: ~depth 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870448" y="289864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Best out-of-sample RMSE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760720" y="3374136"/>
            <a:ext cx="2926080" cy="658368"/>
          </a:xfrm>
          <a:prstGeom prst="rect">
            <a:avLst/>
          </a:prstGeom>
          <a:solidFill>
            <a:srgbClr val="F9FAFB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5870448" y="3419856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21212"/>
                </a:solidFill>
                <a:latin typeface="Calibri"/>
                <a:ea typeface="Calibri"/>
                <a:cs typeface="Calibri"/>
                <a:sym typeface="Calibri"/>
              </a:rPr>
              <a:t>~8 pt improvement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870448" y="370332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Tuned vs. unpruned baseline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Shallow = underfit (high bias)  ·  Too deep = overfit (high variance)  ·  CV finds the sweet spot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4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9654"/>
            <a:ext cx="5455925" cy="3276587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18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65760" y="960120"/>
            <a:ext cx="1938528" cy="1188720"/>
          </a:xfrm>
          <a:prstGeom prst="rect">
            <a:avLst/>
          </a:prstGeom>
          <a:solidFill>
            <a:srgbClr val="222222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65760" y="1024128"/>
            <a:ext cx="19385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~23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65760" y="1591056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 CV RMSE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65760" y="1847088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Unpruned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2487168" y="960120"/>
            <a:ext cx="1938528" cy="1188720"/>
          </a:xfrm>
          <a:prstGeom prst="rect">
            <a:avLst/>
          </a:prstGeom>
          <a:solidFill>
            <a:srgbClr val="222222"/>
          </a:solidFill>
          <a:ln cap="flat" cmpd="sng" w="1905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2487168" y="1024128"/>
            <a:ext cx="19385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~14.7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487168" y="1591056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Tuned CV RMSE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2487168" y="1847088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Best depth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608576" y="960120"/>
            <a:ext cx="1938528" cy="1188720"/>
          </a:xfrm>
          <a:prstGeom prst="rect">
            <a:avLst/>
          </a:prstGeom>
          <a:solidFill>
            <a:srgbClr val="222222"/>
          </a:solidFill>
          <a:ln cap="flat" cmpd="sng" w="190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608576" y="1024128"/>
            <a:ext cx="19385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~0.46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608576" y="1591056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CV R²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608576" y="1847088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Variance explained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729984" y="960120"/>
            <a:ext cx="1938528" cy="1188720"/>
          </a:xfrm>
          <a:prstGeom prst="rect">
            <a:avLst/>
          </a:prstGeom>
          <a:solidFill>
            <a:srgbClr val="222222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729984" y="1024128"/>
            <a:ext cx="19385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&lt; 2 pts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729984" y="1591056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Overfit gap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729984" y="1847088"/>
            <a:ext cx="19385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Well-generalized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65760" y="2331720"/>
            <a:ext cx="4572000" cy="2468880"/>
          </a:xfrm>
          <a:prstGeom prst="rect">
            <a:avLst/>
          </a:prstGeom>
          <a:solidFill>
            <a:srgbClr val="F7F7F7"/>
          </a:solidFill>
          <a:ln cap="flat" cmpd="sng" w="19050">
            <a:solidFill>
              <a:srgbClr val="AAAAA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5166360" y="2359152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166360" y="2761488"/>
            <a:ext cx="361188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log(artist followers) dominates at ~62% importance — who made the song matters more than how it sounds.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5F5F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Audio features aren't useless — Loudness is #2. Running without follower data surfaces them for the 'unknown artist' use case.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F5F5F5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~54% of variance unexplained — this is an information gap, not a model problem.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50" y="2269225"/>
            <a:ext cx="4683750" cy="26862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1100">
        <p:fade thruBlk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21212"/>
                </a:solidFill>
                <a:latin typeface="Calibri"/>
                <a:ea typeface="Calibri"/>
                <a:cs typeface="Calibri"/>
                <a:sym typeface="Calibri"/>
              </a:rPr>
              <a:t>Next Steps &amp; Takeaways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38912" y="1051560"/>
            <a:ext cx="420624" cy="420624"/>
          </a:xfrm>
          <a:prstGeom prst="ellipse">
            <a:avLst/>
          </a:prstGeom>
          <a:solidFill>
            <a:srgbClr val="1DB954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438912" y="10515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1005840" y="105156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Calibri"/>
                <a:ea typeface="Calibri"/>
                <a:cs typeface="Calibri"/>
                <a:sym typeface="Calibri"/>
              </a:rPr>
              <a:t>Run without artist followers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005840" y="1344168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Reveals audio-only importance for the unknown-artist use case.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38912" y="2011680"/>
            <a:ext cx="420624" cy="420624"/>
          </a:xfrm>
          <a:prstGeom prst="ellipse">
            <a:avLst/>
          </a:prstGeom>
          <a:solidFill>
            <a:srgbClr val="1DB954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438912" y="20116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005840" y="201168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Calibri"/>
                <a:ea typeface="Calibri"/>
                <a:cs typeface="Calibri"/>
                <a:sym typeface="Calibri"/>
              </a:rPr>
              <a:t>Benchmark Popularity vs. Streams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005840" y="2304288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Same pipeline, Streams (log-transformed). Compare CV RMSE — let the business question decide.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38912" y="2971800"/>
            <a:ext cx="420624" cy="420624"/>
          </a:xfrm>
          <a:prstGeom prst="ellipse">
            <a:avLst/>
          </a:prstGeom>
          <a:solidFill>
            <a:srgbClr val="1DB954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38912" y="29718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005840" y="297180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Calibri"/>
                <a:ea typeface="Calibri"/>
                <a:cs typeface="Calibri"/>
                <a:sym typeface="Calibri"/>
              </a:rPr>
              <a:t>Add Genre (one-hot)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005840" y="3264408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Measure CV RMSE before/after to quantify whether it adds signal.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438912" y="3931920"/>
            <a:ext cx="420624" cy="420624"/>
          </a:xfrm>
          <a:prstGeom prst="ellipse">
            <a:avLst/>
          </a:prstGeom>
          <a:solidFill>
            <a:srgbClr val="1DB954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438912" y="39319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005840" y="393192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21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21212"/>
                </a:solidFill>
                <a:latin typeface="Calibri"/>
                <a:ea typeface="Calibri"/>
                <a:cs typeface="Calibri"/>
                <a:sym typeface="Calibri"/>
              </a:rPr>
              <a:t>Try Random Forest / XGBoost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005840" y="4224528"/>
            <a:ext cx="7680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Ensemble methods reduce split variance. Expected ~2–5 pt RMSE gain.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solidFill>
            <a:srgbClr val="1DB954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548640" y="4690872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Bottom line: artist fame is the dominant signal. Adding demand-side data (playlists, label, marketing) would move the needle more than any algorithm change.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2026-05-21T01:50:36Z</dcterms:created>
  <dc:creator>Abe</dc:creator>
</cp:coreProperties>
</file>